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sldIdLst>
    <p:sldId id="256" r:id="rId3"/>
    <p:sldId id="257" r:id="rId4"/>
    <p:sldId id="261" r:id="rId5"/>
    <p:sldId id="259" r:id="rId6"/>
    <p:sldId id="260" r:id="rId7"/>
    <p:sldId id="264" r:id="rId8"/>
    <p:sldId id="262" r:id="rId9"/>
    <p:sldId id="265" r:id="rId10"/>
    <p:sldId id="266" r:id="rId11"/>
    <p:sldId id="270" r:id="rId12"/>
    <p:sldId id="269" r:id="rId13"/>
    <p:sldId id="271" r:id="rId14"/>
    <p:sldId id="272" r:id="rId15"/>
    <p:sldId id="273" r:id="rId16"/>
    <p:sldId id="274" r:id="rId17"/>
    <p:sldId id="276" r:id="rId18"/>
    <p:sldId id="275" r:id="rId19"/>
    <p:sldId id="278" r:id="rId20"/>
    <p:sldId id="268" r:id="rId21"/>
    <p:sldId id="277" r:id="rId22"/>
    <p:sldId id="280" r:id="rId23"/>
    <p:sldId id="279" r:id="rId24"/>
    <p:sldId id="281" r:id="rId25"/>
    <p:sldId id="282" r:id="rId26"/>
    <p:sldId id="283" r:id="rId27"/>
    <p:sldId id="285" r:id="rId28"/>
    <p:sldId id="286" r:id="rId29"/>
    <p:sldId id="284" r:id="rId30"/>
    <p:sldId id="287" r:id="rId31"/>
    <p:sldId id="288" r:id="rId32"/>
    <p:sldId id="290" r:id="rId33"/>
    <p:sldId id="291" r:id="rId34"/>
    <p:sldId id="289" r:id="rId35"/>
    <p:sldId id="292" r:id="rId36"/>
    <p:sldId id="293" r:id="rId37"/>
    <p:sldId id="294" r:id="rId38"/>
    <p:sldId id="295" r:id="rId39"/>
    <p:sldId id="296" r:id="rId40"/>
    <p:sldId id="297" r:id="rId41"/>
    <p:sldId id="298" r:id="rId42"/>
    <p:sldId id="299" r:id="rId4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459" autoAdjust="0"/>
    <p:restoredTop sz="94660"/>
  </p:normalViewPr>
  <p:slideViewPr>
    <p:cSldViewPr snapToGrid="0">
      <p:cViewPr varScale="1">
        <p:scale>
          <a:sx n="51" d="100"/>
          <a:sy n="51" d="100"/>
        </p:scale>
        <p:origin x="75" y="699"/>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tableStyles" Target="tableStyle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41" Type="http://schemas.openxmlformats.org/officeDocument/2006/relationships/slide" Target="slides/slide39.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4AB74ACA-E1B6-450B-A47A-606F17CEA99D}" type="doc">
      <dgm:prSet loTypeId="urn:microsoft.com/office/officeart/2005/8/layout/cycle2" loCatId="cycle" qsTypeId="urn:microsoft.com/office/officeart/2005/8/quickstyle/simple1" qsCatId="simple" csTypeId="urn:microsoft.com/office/officeart/2005/8/colors/accent1_2" csCatId="accent1" phldr="1"/>
      <dgm:spPr/>
      <dgm:t>
        <a:bodyPr/>
        <a:lstStyle/>
        <a:p>
          <a:endParaRPr lang="en-US"/>
        </a:p>
      </dgm:t>
    </dgm:pt>
    <dgm:pt modelId="{2CC0E812-549E-49D0-9561-6BD2C1DC342C}">
      <dgm:prSet phldrT="[Text]"/>
      <dgm:spPr/>
      <dgm:t>
        <a:bodyPr/>
        <a:lstStyle/>
        <a:p>
          <a:r>
            <a:rPr lang="en-US" dirty="0" smtClean="0"/>
            <a:t>Inconsistencies</a:t>
          </a:r>
          <a:endParaRPr lang="en-US" dirty="0"/>
        </a:p>
      </dgm:t>
    </dgm:pt>
    <dgm:pt modelId="{79C81D1E-C469-44C2-9132-E4F22BF7A95D}" type="parTrans" cxnId="{D27C4153-F951-4B78-A343-3163F649EF84}">
      <dgm:prSet/>
      <dgm:spPr/>
      <dgm:t>
        <a:bodyPr/>
        <a:lstStyle/>
        <a:p>
          <a:endParaRPr lang="en-US"/>
        </a:p>
      </dgm:t>
    </dgm:pt>
    <dgm:pt modelId="{93DA9A79-9F87-4912-81E7-D6858A931124}" type="sibTrans" cxnId="{D27C4153-F951-4B78-A343-3163F649EF84}">
      <dgm:prSet/>
      <dgm:spPr/>
      <dgm:t>
        <a:bodyPr/>
        <a:lstStyle/>
        <a:p>
          <a:endParaRPr lang="en-US"/>
        </a:p>
      </dgm:t>
    </dgm:pt>
    <dgm:pt modelId="{707E16F1-213D-4168-833F-C15638D2CB02}">
      <dgm:prSet phldrT="[Text]"/>
      <dgm:spPr/>
      <dgm:t>
        <a:bodyPr/>
        <a:lstStyle/>
        <a:p>
          <a:r>
            <a:rPr lang="en-US" dirty="0" smtClean="0"/>
            <a:t>Missing Values</a:t>
          </a:r>
          <a:endParaRPr lang="en-US" dirty="0"/>
        </a:p>
      </dgm:t>
    </dgm:pt>
    <dgm:pt modelId="{8D9F28C8-9B6C-40F3-BC53-DA40931945C9}" type="parTrans" cxnId="{5CB816D9-A05F-471D-B895-352395A27E12}">
      <dgm:prSet/>
      <dgm:spPr/>
      <dgm:t>
        <a:bodyPr/>
        <a:lstStyle/>
        <a:p>
          <a:endParaRPr lang="en-US"/>
        </a:p>
      </dgm:t>
    </dgm:pt>
    <dgm:pt modelId="{639467CE-801F-4B2B-B6AC-44B236C886C6}" type="sibTrans" cxnId="{5CB816D9-A05F-471D-B895-352395A27E12}">
      <dgm:prSet/>
      <dgm:spPr/>
      <dgm:t>
        <a:bodyPr/>
        <a:lstStyle/>
        <a:p>
          <a:endParaRPr lang="en-US"/>
        </a:p>
      </dgm:t>
    </dgm:pt>
    <dgm:pt modelId="{C1A5A2D7-157E-4802-81EB-CDE733A44B87}">
      <dgm:prSet phldrT="[Text]"/>
      <dgm:spPr/>
      <dgm:t>
        <a:bodyPr/>
        <a:lstStyle/>
        <a:p>
          <a:r>
            <a:rPr lang="en-US" dirty="0" smtClean="0"/>
            <a:t>Duplicate Values</a:t>
          </a:r>
          <a:endParaRPr lang="en-US" dirty="0"/>
        </a:p>
      </dgm:t>
    </dgm:pt>
    <dgm:pt modelId="{D79B7B40-963E-439E-8187-BA4ECBA9E6E3}" type="parTrans" cxnId="{A9874185-78B5-44FB-8E62-9AF93412A901}">
      <dgm:prSet/>
      <dgm:spPr/>
      <dgm:t>
        <a:bodyPr/>
        <a:lstStyle/>
        <a:p>
          <a:endParaRPr lang="en-US"/>
        </a:p>
      </dgm:t>
    </dgm:pt>
    <dgm:pt modelId="{324B86D1-C4EA-4246-8517-DB993DC6225D}" type="sibTrans" cxnId="{A9874185-78B5-44FB-8E62-9AF93412A901}">
      <dgm:prSet/>
      <dgm:spPr/>
      <dgm:t>
        <a:bodyPr/>
        <a:lstStyle/>
        <a:p>
          <a:endParaRPr lang="en-US"/>
        </a:p>
      </dgm:t>
    </dgm:pt>
    <dgm:pt modelId="{0E79A2CC-DBFA-449A-AEE2-170C34EA15D8}">
      <dgm:prSet phldrT="[Text]"/>
      <dgm:spPr/>
      <dgm:t>
        <a:bodyPr/>
        <a:lstStyle/>
        <a:p>
          <a:r>
            <a:rPr lang="en-US" dirty="0" smtClean="0"/>
            <a:t>Outliers</a:t>
          </a:r>
          <a:endParaRPr lang="en-US" dirty="0"/>
        </a:p>
      </dgm:t>
    </dgm:pt>
    <dgm:pt modelId="{05EAF527-7113-4254-BC7E-7AB568887D95}" type="parTrans" cxnId="{B826C8CF-9E02-4F4D-AD89-7167058DFCA9}">
      <dgm:prSet/>
      <dgm:spPr/>
      <dgm:t>
        <a:bodyPr/>
        <a:lstStyle/>
        <a:p>
          <a:endParaRPr lang="en-US"/>
        </a:p>
      </dgm:t>
    </dgm:pt>
    <dgm:pt modelId="{8C4D33B3-C8C2-41ED-83B7-56456BCD54DC}" type="sibTrans" cxnId="{B826C8CF-9E02-4F4D-AD89-7167058DFCA9}">
      <dgm:prSet/>
      <dgm:spPr/>
      <dgm:t>
        <a:bodyPr/>
        <a:lstStyle/>
        <a:p>
          <a:endParaRPr lang="en-US"/>
        </a:p>
      </dgm:t>
    </dgm:pt>
    <dgm:pt modelId="{E380B640-1E0C-401C-8FE9-3FA081DCCFC4}">
      <dgm:prSet phldrT="[Text]"/>
      <dgm:spPr/>
      <dgm:t>
        <a:bodyPr/>
        <a:lstStyle/>
        <a:p>
          <a:r>
            <a:rPr lang="en-US" dirty="0" smtClean="0"/>
            <a:t>Feature Engineering</a:t>
          </a:r>
          <a:endParaRPr lang="en-US" dirty="0"/>
        </a:p>
      </dgm:t>
    </dgm:pt>
    <dgm:pt modelId="{E7A3AEAD-79D1-4D29-8A62-3695C735D8F8}" type="parTrans" cxnId="{503B43D8-F4FC-495E-8E8D-2CA63536804F}">
      <dgm:prSet/>
      <dgm:spPr/>
      <dgm:t>
        <a:bodyPr/>
        <a:lstStyle/>
        <a:p>
          <a:endParaRPr lang="en-US"/>
        </a:p>
      </dgm:t>
    </dgm:pt>
    <dgm:pt modelId="{7F9CE953-6D35-4EFC-A95B-601E42E210AF}" type="sibTrans" cxnId="{503B43D8-F4FC-495E-8E8D-2CA63536804F}">
      <dgm:prSet/>
      <dgm:spPr/>
      <dgm:t>
        <a:bodyPr/>
        <a:lstStyle/>
        <a:p>
          <a:endParaRPr lang="en-US"/>
        </a:p>
      </dgm:t>
    </dgm:pt>
    <dgm:pt modelId="{6A92D651-F2D5-4BDE-B379-42771BE0F71C}">
      <dgm:prSet phldrT="[Text]"/>
      <dgm:spPr/>
      <dgm:t>
        <a:bodyPr/>
        <a:lstStyle/>
        <a:p>
          <a:r>
            <a:rPr lang="en-US" dirty="0" smtClean="0"/>
            <a:t>Correlated Features</a:t>
          </a:r>
          <a:endParaRPr lang="en-US" dirty="0"/>
        </a:p>
      </dgm:t>
    </dgm:pt>
    <dgm:pt modelId="{709CC18D-46AE-4455-9398-0C40FC48AEFC}" type="parTrans" cxnId="{C273C1E7-27A6-4941-B260-24DA94C452C3}">
      <dgm:prSet/>
      <dgm:spPr/>
      <dgm:t>
        <a:bodyPr/>
        <a:lstStyle/>
        <a:p>
          <a:endParaRPr lang="en-US"/>
        </a:p>
      </dgm:t>
    </dgm:pt>
    <dgm:pt modelId="{63720AAB-19FE-46A2-BBFA-A487E386E5C9}" type="sibTrans" cxnId="{C273C1E7-27A6-4941-B260-24DA94C452C3}">
      <dgm:prSet/>
      <dgm:spPr/>
      <dgm:t>
        <a:bodyPr/>
        <a:lstStyle/>
        <a:p>
          <a:endParaRPr lang="en-US"/>
        </a:p>
      </dgm:t>
    </dgm:pt>
    <dgm:pt modelId="{46F2093C-3284-42E3-8E45-232BEA1BB153}" type="pres">
      <dgm:prSet presAssocID="{4AB74ACA-E1B6-450B-A47A-606F17CEA99D}" presName="cycle" presStyleCnt="0">
        <dgm:presLayoutVars>
          <dgm:dir/>
          <dgm:resizeHandles val="exact"/>
        </dgm:presLayoutVars>
      </dgm:prSet>
      <dgm:spPr/>
      <dgm:t>
        <a:bodyPr/>
        <a:lstStyle/>
        <a:p>
          <a:endParaRPr lang="en-US"/>
        </a:p>
      </dgm:t>
    </dgm:pt>
    <dgm:pt modelId="{5AD7339E-7FDF-45BB-B1CE-CF192783805E}" type="pres">
      <dgm:prSet presAssocID="{2CC0E812-549E-49D0-9561-6BD2C1DC342C}" presName="node" presStyleLbl="node1" presStyleIdx="0" presStyleCnt="6" custRadScaleRad="101023" custRadScaleInc="-18246">
        <dgm:presLayoutVars>
          <dgm:bulletEnabled val="1"/>
        </dgm:presLayoutVars>
      </dgm:prSet>
      <dgm:spPr/>
      <dgm:t>
        <a:bodyPr/>
        <a:lstStyle/>
        <a:p>
          <a:endParaRPr lang="en-US"/>
        </a:p>
      </dgm:t>
    </dgm:pt>
    <dgm:pt modelId="{B0D36E2C-DBD7-4200-8401-AAF2B150C2CF}" type="pres">
      <dgm:prSet presAssocID="{93DA9A79-9F87-4912-81E7-D6858A931124}" presName="sibTrans" presStyleLbl="sibTrans2D1" presStyleIdx="0" presStyleCnt="6"/>
      <dgm:spPr/>
      <dgm:t>
        <a:bodyPr/>
        <a:lstStyle/>
        <a:p>
          <a:endParaRPr lang="en-US"/>
        </a:p>
      </dgm:t>
    </dgm:pt>
    <dgm:pt modelId="{DE7E74D3-EB48-443D-8177-5959ADE4D502}" type="pres">
      <dgm:prSet presAssocID="{93DA9A79-9F87-4912-81E7-D6858A931124}" presName="connectorText" presStyleLbl="sibTrans2D1" presStyleIdx="0" presStyleCnt="6"/>
      <dgm:spPr/>
      <dgm:t>
        <a:bodyPr/>
        <a:lstStyle/>
        <a:p>
          <a:endParaRPr lang="en-US"/>
        </a:p>
      </dgm:t>
    </dgm:pt>
    <dgm:pt modelId="{C8C86E02-2CE5-4A16-8F2D-5CBB93180A9E}" type="pres">
      <dgm:prSet presAssocID="{707E16F1-213D-4168-833F-C15638D2CB02}" presName="node" presStyleLbl="node1" presStyleIdx="1" presStyleCnt="6">
        <dgm:presLayoutVars>
          <dgm:bulletEnabled val="1"/>
        </dgm:presLayoutVars>
      </dgm:prSet>
      <dgm:spPr/>
      <dgm:t>
        <a:bodyPr/>
        <a:lstStyle/>
        <a:p>
          <a:endParaRPr lang="en-US"/>
        </a:p>
      </dgm:t>
    </dgm:pt>
    <dgm:pt modelId="{A5A652B1-BFE5-4595-A228-DE22FDB34933}" type="pres">
      <dgm:prSet presAssocID="{639467CE-801F-4B2B-B6AC-44B236C886C6}" presName="sibTrans" presStyleLbl="sibTrans2D1" presStyleIdx="1" presStyleCnt="6"/>
      <dgm:spPr/>
      <dgm:t>
        <a:bodyPr/>
        <a:lstStyle/>
        <a:p>
          <a:endParaRPr lang="en-US"/>
        </a:p>
      </dgm:t>
    </dgm:pt>
    <dgm:pt modelId="{38E7DD57-6A35-4024-AD9C-FF558FC73183}" type="pres">
      <dgm:prSet presAssocID="{639467CE-801F-4B2B-B6AC-44B236C886C6}" presName="connectorText" presStyleLbl="sibTrans2D1" presStyleIdx="1" presStyleCnt="6"/>
      <dgm:spPr/>
      <dgm:t>
        <a:bodyPr/>
        <a:lstStyle/>
        <a:p>
          <a:endParaRPr lang="en-US"/>
        </a:p>
      </dgm:t>
    </dgm:pt>
    <dgm:pt modelId="{57CC86C0-F590-408E-AFE7-97993A703A25}" type="pres">
      <dgm:prSet presAssocID="{C1A5A2D7-157E-4802-81EB-CDE733A44B87}" presName="node" presStyleLbl="node1" presStyleIdx="2" presStyleCnt="6">
        <dgm:presLayoutVars>
          <dgm:bulletEnabled val="1"/>
        </dgm:presLayoutVars>
      </dgm:prSet>
      <dgm:spPr/>
      <dgm:t>
        <a:bodyPr/>
        <a:lstStyle/>
        <a:p>
          <a:endParaRPr lang="en-US"/>
        </a:p>
      </dgm:t>
    </dgm:pt>
    <dgm:pt modelId="{32C57224-D629-4280-8C50-99A87DA9B9E8}" type="pres">
      <dgm:prSet presAssocID="{324B86D1-C4EA-4246-8517-DB993DC6225D}" presName="sibTrans" presStyleLbl="sibTrans2D1" presStyleIdx="2" presStyleCnt="6"/>
      <dgm:spPr/>
      <dgm:t>
        <a:bodyPr/>
        <a:lstStyle/>
        <a:p>
          <a:endParaRPr lang="en-US"/>
        </a:p>
      </dgm:t>
    </dgm:pt>
    <dgm:pt modelId="{B2F6FAB1-02DF-4FA3-97BE-A8519788F1E1}" type="pres">
      <dgm:prSet presAssocID="{324B86D1-C4EA-4246-8517-DB993DC6225D}" presName="connectorText" presStyleLbl="sibTrans2D1" presStyleIdx="2" presStyleCnt="6"/>
      <dgm:spPr/>
      <dgm:t>
        <a:bodyPr/>
        <a:lstStyle/>
        <a:p>
          <a:endParaRPr lang="en-US"/>
        </a:p>
      </dgm:t>
    </dgm:pt>
    <dgm:pt modelId="{A57653B3-24AA-407B-AF7B-648B1C72BC28}" type="pres">
      <dgm:prSet presAssocID="{0E79A2CC-DBFA-449A-AEE2-170C34EA15D8}" presName="node" presStyleLbl="node1" presStyleIdx="3" presStyleCnt="6">
        <dgm:presLayoutVars>
          <dgm:bulletEnabled val="1"/>
        </dgm:presLayoutVars>
      </dgm:prSet>
      <dgm:spPr/>
      <dgm:t>
        <a:bodyPr/>
        <a:lstStyle/>
        <a:p>
          <a:endParaRPr lang="en-US"/>
        </a:p>
      </dgm:t>
    </dgm:pt>
    <dgm:pt modelId="{042EAF1E-121F-46A2-9A49-3D273583E264}" type="pres">
      <dgm:prSet presAssocID="{8C4D33B3-C8C2-41ED-83B7-56456BCD54DC}" presName="sibTrans" presStyleLbl="sibTrans2D1" presStyleIdx="3" presStyleCnt="6"/>
      <dgm:spPr/>
      <dgm:t>
        <a:bodyPr/>
        <a:lstStyle/>
        <a:p>
          <a:endParaRPr lang="en-US"/>
        </a:p>
      </dgm:t>
    </dgm:pt>
    <dgm:pt modelId="{BB847BE2-12B7-4594-A313-E31EBBA15740}" type="pres">
      <dgm:prSet presAssocID="{8C4D33B3-C8C2-41ED-83B7-56456BCD54DC}" presName="connectorText" presStyleLbl="sibTrans2D1" presStyleIdx="3" presStyleCnt="6"/>
      <dgm:spPr/>
      <dgm:t>
        <a:bodyPr/>
        <a:lstStyle/>
        <a:p>
          <a:endParaRPr lang="en-US"/>
        </a:p>
      </dgm:t>
    </dgm:pt>
    <dgm:pt modelId="{CA4ECE2D-A76C-487F-84E2-FE93A6670D20}" type="pres">
      <dgm:prSet presAssocID="{E380B640-1E0C-401C-8FE9-3FA081DCCFC4}" presName="node" presStyleLbl="node1" presStyleIdx="4" presStyleCnt="6">
        <dgm:presLayoutVars>
          <dgm:bulletEnabled val="1"/>
        </dgm:presLayoutVars>
      </dgm:prSet>
      <dgm:spPr/>
      <dgm:t>
        <a:bodyPr/>
        <a:lstStyle/>
        <a:p>
          <a:endParaRPr lang="en-US"/>
        </a:p>
      </dgm:t>
    </dgm:pt>
    <dgm:pt modelId="{1182712C-222D-4C37-94D4-1B686B3B5644}" type="pres">
      <dgm:prSet presAssocID="{7F9CE953-6D35-4EFC-A95B-601E42E210AF}" presName="sibTrans" presStyleLbl="sibTrans2D1" presStyleIdx="4" presStyleCnt="6"/>
      <dgm:spPr/>
      <dgm:t>
        <a:bodyPr/>
        <a:lstStyle/>
        <a:p>
          <a:endParaRPr lang="en-US"/>
        </a:p>
      </dgm:t>
    </dgm:pt>
    <dgm:pt modelId="{CC5F66D9-6529-45FB-BDD5-CBCC614C510D}" type="pres">
      <dgm:prSet presAssocID="{7F9CE953-6D35-4EFC-A95B-601E42E210AF}" presName="connectorText" presStyleLbl="sibTrans2D1" presStyleIdx="4" presStyleCnt="6"/>
      <dgm:spPr/>
      <dgm:t>
        <a:bodyPr/>
        <a:lstStyle/>
        <a:p>
          <a:endParaRPr lang="en-US"/>
        </a:p>
      </dgm:t>
    </dgm:pt>
    <dgm:pt modelId="{0D8732D0-ADDA-4282-861A-D6402C8CA9EC}" type="pres">
      <dgm:prSet presAssocID="{6A92D651-F2D5-4BDE-B379-42771BE0F71C}" presName="node" presStyleLbl="node1" presStyleIdx="5" presStyleCnt="6" custRadScaleRad="103385" custRadScaleInc="-5957">
        <dgm:presLayoutVars>
          <dgm:bulletEnabled val="1"/>
        </dgm:presLayoutVars>
      </dgm:prSet>
      <dgm:spPr/>
      <dgm:t>
        <a:bodyPr/>
        <a:lstStyle/>
        <a:p>
          <a:endParaRPr lang="en-US"/>
        </a:p>
      </dgm:t>
    </dgm:pt>
    <dgm:pt modelId="{1B6B29B4-1E4A-4FFE-BADE-49C3C46E908F}" type="pres">
      <dgm:prSet presAssocID="{63720AAB-19FE-46A2-BBFA-A487E386E5C9}" presName="sibTrans" presStyleLbl="sibTrans2D1" presStyleIdx="5" presStyleCnt="6"/>
      <dgm:spPr/>
      <dgm:t>
        <a:bodyPr/>
        <a:lstStyle/>
        <a:p>
          <a:endParaRPr lang="en-US"/>
        </a:p>
      </dgm:t>
    </dgm:pt>
    <dgm:pt modelId="{10B9383A-6DFB-45F9-8BD3-6675CB1451CF}" type="pres">
      <dgm:prSet presAssocID="{63720AAB-19FE-46A2-BBFA-A487E386E5C9}" presName="connectorText" presStyleLbl="sibTrans2D1" presStyleIdx="5" presStyleCnt="6"/>
      <dgm:spPr/>
      <dgm:t>
        <a:bodyPr/>
        <a:lstStyle/>
        <a:p>
          <a:endParaRPr lang="en-US"/>
        </a:p>
      </dgm:t>
    </dgm:pt>
  </dgm:ptLst>
  <dgm:cxnLst>
    <dgm:cxn modelId="{41811CB6-C941-478C-A880-2E7B4F517C31}" type="presOf" srcId="{63720AAB-19FE-46A2-BBFA-A487E386E5C9}" destId="{10B9383A-6DFB-45F9-8BD3-6675CB1451CF}" srcOrd="1" destOrd="0" presId="urn:microsoft.com/office/officeart/2005/8/layout/cycle2"/>
    <dgm:cxn modelId="{D46CF9AE-D13F-4ACB-8CF0-2D63E092C1E9}" type="presOf" srcId="{93DA9A79-9F87-4912-81E7-D6858A931124}" destId="{B0D36E2C-DBD7-4200-8401-AAF2B150C2CF}" srcOrd="0" destOrd="0" presId="urn:microsoft.com/office/officeart/2005/8/layout/cycle2"/>
    <dgm:cxn modelId="{D27C4153-F951-4B78-A343-3163F649EF84}" srcId="{4AB74ACA-E1B6-450B-A47A-606F17CEA99D}" destId="{2CC0E812-549E-49D0-9561-6BD2C1DC342C}" srcOrd="0" destOrd="0" parTransId="{79C81D1E-C469-44C2-9132-E4F22BF7A95D}" sibTransId="{93DA9A79-9F87-4912-81E7-D6858A931124}"/>
    <dgm:cxn modelId="{CC64A676-D075-416E-ACBF-2210CFC9776E}" type="presOf" srcId="{2CC0E812-549E-49D0-9561-6BD2C1DC342C}" destId="{5AD7339E-7FDF-45BB-B1CE-CF192783805E}" srcOrd="0" destOrd="0" presId="urn:microsoft.com/office/officeart/2005/8/layout/cycle2"/>
    <dgm:cxn modelId="{F84E3061-5665-415E-9AB8-D04D04869D0A}" type="presOf" srcId="{E380B640-1E0C-401C-8FE9-3FA081DCCFC4}" destId="{CA4ECE2D-A76C-487F-84E2-FE93A6670D20}" srcOrd="0" destOrd="0" presId="urn:microsoft.com/office/officeart/2005/8/layout/cycle2"/>
    <dgm:cxn modelId="{A9874185-78B5-44FB-8E62-9AF93412A901}" srcId="{4AB74ACA-E1B6-450B-A47A-606F17CEA99D}" destId="{C1A5A2D7-157E-4802-81EB-CDE733A44B87}" srcOrd="2" destOrd="0" parTransId="{D79B7B40-963E-439E-8187-BA4ECBA9E6E3}" sibTransId="{324B86D1-C4EA-4246-8517-DB993DC6225D}"/>
    <dgm:cxn modelId="{5004AE19-5816-47FE-B5CD-F4B22A20497C}" type="presOf" srcId="{4AB74ACA-E1B6-450B-A47A-606F17CEA99D}" destId="{46F2093C-3284-42E3-8E45-232BEA1BB153}" srcOrd="0" destOrd="0" presId="urn:microsoft.com/office/officeart/2005/8/layout/cycle2"/>
    <dgm:cxn modelId="{503B43D8-F4FC-495E-8E8D-2CA63536804F}" srcId="{4AB74ACA-E1B6-450B-A47A-606F17CEA99D}" destId="{E380B640-1E0C-401C-8FE9-3FA081DCCFC4}" srcOrd="4" destOrd="0" parTransId="{E7A3AEAD-79D1-4D29-8A62-3695C735D8F8}" sibTransId="{7F9CE953-6D35-4EFC-A95B-601E42E210AF}"/>
    <dgm:cxn modelId="{E2BB7096-A1EA-45FB-9B0E-93B9C5D1F23A}" type="presOf" srcId="{7F9CE953-6D35-4EFC-A95B-601E42E210AF}" destId="{1182712C-222D-4C37-94D4-1B686B3B5644}" srcOrd="0" destOrd="0" presId="urn:microsoft.com/office/officeart/2005/8/layout/cycle2"/>
    <dgm:cxn modelId="{5B51A848-CE11-457D-B241-D74FF3F9756A}" type="presOf" srcId="{93DA9A79-9F87-4912-81E7-D6858A931124}" destId="{DE7E74D3-EB48-443D-8177-5959ADE4D502}" srcOrd="1" destOrd="0" presId="urn:microsoft.com/office/officeart/2005/8/layout/cycle2"/>
    <dgm:cxn modelId="{FD8FE533-7088-430D-AF5D-7DA9630C2043}" type="presOf" srcId="{63720AAB-19FE-46A2-BBFA-A487E386E5C9}" destId="{1B6B29B4-1E4A-4FFE-BADE-49C3C46E908F}" srcOrd="0" destOrd="0" presId="urn:microsoft.com/office/officeart/2005/8/layout/cycle2"/>
    <dgm:cxn modelId="{09845B49-C0B8-4A9F-8274-3C3B0A9B5F19}" type="presOf" srcId="{639467CE-801F-4B2B-B6AC-44B236C886C6}" destId="{A5A652B1-BFE5-4595-A228-DE22FDB34933}" srcOrd="0" destOrd="0" presId="urn:microsoft.com/office/officeart/2005/8/layout/cycle2"/>
    <dgm:cxn modelId="{C273C1E7-27A6-4941-B260-24DA94C452C3}" srcId="{4AB74ACA-E1B6-450B-A47A-606F17CEA99D}" destId="{6A92D651-F2D5-4BDE-B379-42771BE0F71C}" srcOrd="5" destOrd="0" parTransId="{709CC18D-46AE-4455-9398-0C40FC48AEFC}" sibTransId="{63720AAB-19FE-46A2-BBFA-A487E386E5C9}"/>
    <dgm:cxn modelId="{483B87FC-9896-4903-B0DD-BECFF4C3B7B6}" type="presOf" srcId="{8C4D33B3-C8C2-41ED-83B7-56456BCD54DC}" destId="{042EAF1E-121F-46A2-9A49-3D273583E264}" srcOrd="0" destOrd="0" presId="urn:microsoft.com/office/officeart/2005/8/layout/cycle2"/>
    <dgm:cxn modelId="{5CB816D9-A05F-471D-B895-352395A27E12}" srcId="{4AB74ACA-E1B6-450B-A47A-606F17CEA99D}" destId="{707E16F1-213D-4168-833F-C15638D2CB02}" srcOrd="1" destOrd="0" parTransId="{8D9F28C8-9B6C-40F3-BC53-DA40931945C9}" sibTransId="{639467CE-801F-4B2B-B6AC-44B236C886C6}"/>
    <dgm:cxn modelId="{7EF65B96-CBC2-4B2D-A3E4-725A8907F0DE}" type="presOf" srcId="{639467CE-801F-4B2B-B6AC-44B236C886C6}" destId="{38E7DD57-6A35-4024-AD9C-FF558FC73183}" srcOrd="1" destOrd="0" presId="urn:microsoft.com/office/officeart/2005/8/layout/cycle2"/>
    <dgm:cxn modelId="{67E636EB-5E64-4901-A412-788C052281B2}" type="presOf" srcId="{C1A5A2D7-157E-4802-81EB-CDE733A44B87}" destId="{57CC86C0-F590-408E-AFE7-97993A703A25}" srcOrd="0" destOrd="0" presId="urn:microsoft.com/office/officeart/2005/8/layout/cycle2"/>
    <dgm:cxn modelId="{C424E85C-E96E-430A-A371-F97097B6E9AB}" type="presOf" srcId="{324B86D1-C4EA-4246-8517-DB993DC6225D}" destId="{B2F6FAB1-02DF-4FA3-97BE-A8519788F1E1}" srcOrd="1" destOrd="0" presId="urn:microsoft.com/office/officeart/2005/8/layout/cycle2"/>
    <dgm:cxn modelId="{4E84778B-9B8F-404B-A73B-438626333151}" type="presOf" srcId="{707E16F1-213D-4168-833F-C15638D2CB02}" destId="{C8C86E02-2CE5-4A16-8F2D-5CBB93180A9E}" srcOrd="0" destOrd="0" presId="urn:microsoft.com/office/officeart/2005/8/layout/cycle2"/>
    <dgm:cxn modelId="{B826C8CF-9E02-4F4D-AD89-7167058DFCA9}" srcId="{4AB74ACA-E1B6-450B-A47A-606F17CEA99D}" destId="{0E79A2CC-DBFA-449A-AEE2-170C34EA15D8}" srcOrd="3" destOrd="0" parTransId="{05EAF527-7113-4254-BC7E-7AB568887D95}" sibTransId="{8C4D33B3-C8C2-41ED-83B7-56456BCD54DC}"/>
    <dgm:cxn modelId="{0EF12EE8-0C6C-47A1-B965-A65C395065CD}" type="presOf" srcId="{7F9CE953-6D35-4EFC-A95B-601E42E210AF}" destId="{CC5F66D9-6529-45FB-BDD5-CBCC614C510D}" srcOrd="1" destOrd="0" presId="urn:microsoft.com/office/officeart/2005/8/layout/cycle2"/>
    <dgm:cxn modelId="{2CD88D87-8527-438B-A039-0FF88BD2E566}" type="presOf" srcId="{324B86D1-C4EA-4246-8517-DB993DC6225D}" destId="{32C57224-D629-4280-8C50-99A87DA9B9E8}" srcOrd="0" destOrd="0" presId="urn:microsoft.com/office/officeart/2005/8/layout/cycle2"/>
    <dgm:cxn modelId="{CADE65E9-C263-48FB-A0C7-E6B961E4B64A}" type="presOf" srcId="{8C4D33B3-C8C2-41ED-83B7-56456BCD54DC}" destId="{BB847BE2-12B7-4594-A313-E31EBBA15740}" srcOrd="1" destOrd="0" presId="urn:microsoft.com/office/officeart/2005/8/layout/cycle2"/>
    <dgm:cxn modelId="{61CC53ED-75BF-4075-A81E-E61ED188FCF9}" type="presOf" srcId="{6A92D651-F2D5-4BDE-B379-42771BE0F71C}" destId="{0D8732D0-ADDA-4282-861A-D6402C8CA9EC}" srcOrd="0" destOrd="0" presId="urn:microsoft.com/office/officeart/2005/8/layout/cycle2"/>
    <dgm:cxn modelId="{F169FF2C-4FF6-4EF9-8BC6-FDB2DA2B8919}" type="presOf" srcId="{0E79A2CC-DBFA-449A-AEE2-170C34EA15D8}" destId="{A57653B3-24AA-407B-AF7B-648B1C72BC28}" srcOrd="0" destOrd="0" presId="urn:microsoft.com/office/officeart/2005/8/layout/cycle2"/>
    <dgm:cxn modelId="{D1D403C3-74BE-4598-8C4E-D6FDA1F9BD09}" type="presParOf" srcId="{46F2093C-3284-42E3-8E45-232BEA1BB153}" destId="{5AD7339E-7FDF-45BB-B1CE-CF192783805E}" srcOrd="0" destOrd="0" presId="urn:microsoft.com/office/officeart/2005/8/layout/cycle2"/>
    <dgm:cxn modelId="{300455EA-57A1-48FC-B44C-BCDE030F5D09}" type="presParOf" srcId="{46F2093C-3284-42E3-8E45-232BEA1BB153}" destId="{B0D36E2C-DBD7-4200-8401-AAF2B150C2CF}" srcOrd="1" destOrd="0" presId="urn:microsoft.com/office/officeart/2005/8/layout/cycle2"/>
    <dgm:cxn modelId="{1F533A7D-4578-47FF-AF59-DBB7F568F080}" type="presParOf" srcId="{B0D36E2C-DBD7-4200-8401-AAF2B150C2CF}" destId="{DE7E74D3-EB48-443D-8177-5959ADE4D502}" srcOrd="0" destOrd="0" presId="urn:microsoft.com/office/officeart/2005/8/layout/cycle2"/>
    <dgm:cxn modelId="{62652773-D542-4966-87AB-C40FB7097C52}" type="presParOf" srcId="{46F2093C-3284-42E3-8E45-232BEA1BB153}" destId="{C8C86E02-2CE5-4A16-8F2D-5CBB93180A9E}" srcOrd="2" destOrd="0" presId="urn:microsoft.com/office/officeart/2005/8/layout/cycle2"/>
    <dgm:cxn modelId="{254AC47A-7683-4705-B8AA-05E30DA30128}" type="presParOf" srcId="{46F2093C-3284-42E3-8E45-232BEA1BB153}" destId="{A5A652B1-BFE5-4595-A228-DE22FDB34933}" srcOrd="3" destOrd="0" presId="urn:microsoft.com/office/officeart/2005/8/layout/cycle2"/>
    <dgm:cxn modelId="{E1E5F0DF-3972-42BD-A8A0-A8D3154B0CBA}" type="presParOf" srcId="{A5A652B1-BFE5-4595-A228-DE22FDB34933}" destId="{38E7DD57-6A35-4024-AD9C-FF558FC73183}" srcOrd="0" destOrd="0" presId="urn:microsoft.com/office/officeart/2005/8/layout/cycle2"/>
    <dgm:cxn modelId="{4C0D5EE5-C172-4DF7-9DA2-1784F20530E7}" type="presParOf" srcId="{46F2093C-3284-42E3-8E45-232BEA1BB153}" destId="{57CC86C0-F590-408E-AFE7-97993A703A25}" srcOrd="4" destOrd="0" presId="urn:microsoft.com/office/officeart/2005/8/layout/cycle2"/>
    <dgm:cxn modelId="{70014C6F-9617-41D3-B3AF-4875ABF2EDA5}" type="presParOf" srcId="{46F2093C-3284-42E3-8E45-232BEA1BB153}" destId="{32C57224-D629-4280-8C50-99A87DA9B9E8}" srcOrd="5" destOrd="0" presId="urn:microsoft.com/office/officeart/2005/8/layout/cycle2"/>
    <dgm:cxn modelId="{8E6E0DFC-AC5D-40A1-824F-39B5F21AFA34}" type="presParOf" srcId="{32C57224-D629-4280-8C50-99A87DA9B9E8}" destId="{B2F6FAB1-02DF-4FA3-97BE-A8519788F1E1}" srcOrd="0" destOrd="0" presId="urn:microsoft.com/office/officeart/2005/8/layout/cycle2"/>
    <dgm:cxn modelId="{E6B3B407-5B0C-4CC0-B37A-F2553E7273C4}" type="presParOf" srcId="{46F2093C-3284-42E3-8E45-232BEA1BB153}" destId="{A57653B3-24AA-407B-AF7B-648B1C72BC28}" srcOrd="6" destOrd="0" presId="urn:microsoft.com/office/officeart/2005/8/layout/cycle2"/>
    <dgm:cxn modelId="{DBAB2A30-486C-40B7-A30A-A41CD12320E7}" type="presParOf" srcId="{46F2093C-3284-42E3-8E45-232BEA1BB153}" destId="{042EAF1E-121F-46A2-9A49-3D273583E264}" srcOrd="7" destOrd="0" presId="urn:microsoft.com/office/officeart/2005/8/layout/cycle2"/>
    <dgm:cxn modelId="{B75CD25E-3458-43AD-926E-8F2FC9AD3510}" type="presParOf" srcId="{042EAF1E-121F-46A2-9A49-3D273583E264}" destId="{BB847BE2-12B7-4594-A313-E31EBBA15740}" srcOrd="0" destOrd="0" presId="urn:microsoft.com/office/officeart/2005/8/layout/cycle2"/>
    <dgm:cxn modelId="{E59BF450-DE14-4E59-8A30-FBFC144BEBA0}" type="presParOf" srcId="{46F2093C-3284-42E3-8E45-232BEA1BB153}" destId="{CA4ECE2D-A76C-487F-84E2-FE93A6670D20}" srcOrd="8" destOrd="0" presId="urn:microsoft.com/office/officeart/2005/8/layout/cycle2"/>
    <dgm:cxn modelId="{FE12E32A-0401-4A6A-B7CE-D2E65993C5E9}" type="presParOf" srcId="{46F2093C-3284-42E3-8E45-232BEA1BB153}" destId="{1182712C-222D-4C37-94D4-1B686B3B5644}" srcOrd="9" destOrd="0" presId="urn:microsoft.com/office/officeart/2005/8/layout/cycle2"/>
    <dgm:cxn modelId="{522932E3-625F-4A57-B184-4D27CFCFF77B}" type="presParOf" srcId="{1182712C-222D-4C37-94D4-1B686B3B5644}" destId="{CC5F66D9-6529-45FB-BDD5-CBCC614C510D}" srcOrd="0" destOrd="0" presId="urn:microsoft.com/office/officeart/2005/8/layout/cycle2"/>
    <dgm:cxn modelId="{5920CFE2-60C5-4328-A512-3EBB0A059716}" type="presParOf" srcId="{46F2093C-3284-42E3-8E45-232BEA1BB153}" destId="{0D8732D0-ADDA-4282-861A-D6402C8CA9EC}" srcOrd="10" destOrd="0" presId="urn:microsoft.com/office/officeart/2005/8/layout/cycle2"/>
    <dgm:cxn modelId="{A0B5D303-2765-4474-A66B-2F5AD7D54BAC}" type="presParOf" srcId="{46F2093C-3284-42E3-8E45-232BEA1BB153}" destId="{1B6B29B4-1E4A-4FFE-BADE-49C3C46E908F}" srcOrd="11" destOrd="0" presId="urn:microsoft.com/office/officeart/2005/8/layout/cycle2"/>
    <dgm:cxn modelId="{5EE00AEA-0B3C-4710-8682-297B0CB926A5}" type="presParOf" srcId="{1B6B29B4-1E4A-4FFE-BADE-49C3C46E908F}" destId="{10B9383A-6DFB-45F9-8BD3-6675CB1451CF}" srcOrd="0" destOrd="0" presId="urn:microsoft.com/office/officeart/2005/8/layout/cycle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D53F1EFC-A32E-430B-B624-04085826D491}" type="doc">
      <dgm:prSet loTypeId="urn:microsoft.com/office/officeart/2005/8/layout/hProcess9" loCatId="process" qsTypeId="urn:microsoft.com/office/officeart/2005/8/quickstyle/simple1" qsCatId="simple" csTypeId="urn:microsoft.com/office/officeart/2005/8/colors/accent1_2" csCatId="accent1" phldr="1"/>
      <dgm:spPr/>
    </dgm:pt>
    <dgm:pt modelId="{ECF7F720-C257-44D1-9E4A-8A9A8099FF3C}">
      <dgm:prSet phldrT="[Text]" custT="1"/>
      <dgm:spPr/>
      <dgm:t>
        <a:bodyPr/>
        <a:lstStyle/>
        <a:p>
          <a:r>
            <a:rPr lang="en-US" sz="2000" dirty="0" smtClean="0">
              <a:solidFill>
                <a:srgbClr val="FFFF00"/>
              </a:solidFill>
            </a:rPr>
            <a:t>Data Cleaning and Modelling</a:t>
          </a:r>
          <a:endParaRPr lang="en-US" sz="2000" dirty="0">
            <a:solidFill>
              <a:srgbClr val="FFFF00"/>
            </a:solidFill>
          </a:endParaRPr>
        </a:p>
      </dgm:t>
    </dgm:pt>
    <dgm:pt modelId="{9AE6F6DA-B9F5-4021-A86C-381C6021BA5A}" type="parTrans" cxnId="{91609C5F-80A7-46C5-9782-7DBBF6E15EB3}">
      <dgm:prSet/>
      <dgm:spPr/>
      <dgm:t>
        <a:bodyPr/>
        <a:lstStyle/>
        <a:p>
          <a:endParaRPr lang="en-US"/>
        </a:p>
      </dgm:t>
    </dgm:pt>
    <dgm:pt modelId="{71D57AD9-7021-4179-9B82-F7F022BAB92C}" type="sibTrans" cxnId="{91609C5F-80A7-46C5-9782-7DBBF6E15EB3}">
      <dgm:prSet/>
      <dgm:spPr/>
      <dgm:t>
        <a:bodyPr/>
        <a:lstStyle/>
        <a:p>
          <a:endParaRPr lang="en-US"/>
        </a:p>
      </dgm:t>
    </dgm:pt>
    <dgm:pt modelId="{A8F95643-5CBA-4838-9552-752161A27F98}">
      <dgm:prSet phldrT="[Text]" custT="1"/>
      <dgm:spPr/>
      <dgm:t>
        <a:bodyPr/>
        <a:lstStyle/>
        <a:p>
          <a:r>
            <a:rPr lang="en-US" sz="2000" dirty="0" smtClean="0">
              <a:solidFill>
                <a:srgbClr val="FFFF00"/>
              </a:solidFill>
            </a:rPr>
            <a:t>Model Training</a:t>
          </a:r>
          <a:endParaRPr lang="en-US" sz="2000" dirty="0">
            <a:solidFill>
              <a:srgbClr val="FFFF00"/>
            </a:solidFill>
          </a:endParaRPr>
        </a:p>
      </dgm:t>
    </dgm:pt>
    <dgm:pt modelId="{90262CEF-DF3A-4FF0-BBBA-AEFA09D2DA11}" type="parTrans" cxnId="{95D9311F-423C-4D63-AAAF-E8FC6E8E208D}">
      <dgm:prSet/>
      <dgm:spPr/>
      <dgm:t>
        <a:bodyPr/>
        <a:lstStyle/>
        <a:p>
          <a:endParaRPr lang="en-US"/>
        </a:p>
      </dgm:t>
    </dgm:pt>
    <dgm:pt modelId="{B7EA9DAB-4370-4E76-B7B3-3858E542B460}" type="sibTrans" cxnId="{95D9311F-423C-4D63-AAAF-E8FC6E8E208D}">
      <dgm:prSet/>
      <dgm:spPr/>
      <dgm:t>
        <a:bodyPr/>
        <a:lstStyle/>
        <a:p>
          <a:endParaRPr lang="en-US"/>
        </a:p>
      </dgm:t>
    </dgm:pt>
    <dgm:pt modelId="{AA189C1D-F26B-4175-8F7B-7E8D583CE4B8}">
      <dgm:prSet phldrT="[Text]" custT="1"/>
      <dgm:spPr/>
      <dgm:t>
        <a:bodyPr/>
        <a:lstStyle/>
        <a:p>
          <a:r>
            <a:rPr lang="en-US" sz="2000" dirty="0" smtClean="0">
              <a:solidFill>
                <a:srgbClr val="FFFF00"/>
              </a:solidFill>
            </a:rPr>
            <a:t>Model Evaluation</a:t>
          </a:r>
          <a:endParaRPr lang="en-US" sz="2000" dirty="0">
            <a:solidFill>
              <a:srgbClr val="FFFF00"/>
            </a:solidFill>
          </a:endParaRPr>
        </a:p>
      </dgm:t>
    </dgm:pt>
    <dgm:pt modelId="{D2CFAC19-428A-4427-939A-7A19A3A22995}" type="parTrans" cxnId="{B3019279-486D-459F-A93D-9C880466D503}">
      <dgm:prSet/>
      <dgm:spPr/>
      <dgm:t>
        <a:bodyPr/>
        <a:lstStyle/>
        <a:p>
          <a:endParaRPr lang="en-US"/>
        </a:p>
      </dgm:t>
    </dgm:pt>
    <dgm:pt modelId="{FEE62774-736F-442B-8984-14F6DD55005D}" type="sibTrans" cxnId="{B3019279-486D-459F-A93D-9C880466D503}">
      <dgm:prSet/>
      <dgm:spPr/>
      <dgm:t>
        <a:bodyPr/>
        <a:lstStyle/>
        <a:p>
          <a:endParaRPr lang="en-US"/>
        </a:p>
      </dgm:t>
    </dgm:pt>
    <dgm:pt modelId="{82383CF0-A83E-46C4-8D1E-D7624A6FEA58}">
      <dgm:prSet custT="1"/>
      <dgm:spPr/>
      <dgm:t>
        <a:bodyPr/>
        <a:lstStyle/>
        <a:p>
          <a:r>
            <a:rPr lang="en-US" sz="2000" dirty="0" smtClean="0">
              <a:solidFill>
                <a:srgbClr val="FFFF00"/>
              </a:solidFill>
            </a:rPr>
            <a:t>Data Collection</a:t>
          </a:r>
          <a:endParaRPr lang="en-US" sz="2000" dirty="0">
            <a:solidFill>
              <a:srgbClr val="FFFF00"/>
            </a:solidFill>
          </a:endParaRPr>
        </a:p>
      </dgm:t>
    </dgm:pt>
    <dgm:pt modelId="{797728F4-923D-4ECD-862D-E58C50872973}" type="parTrans" cxnId="{F4C77BFF-1E3D-4711-B079-CDE97078A4DD}">
      <dgm:prSet/>
      <dgm:spPr/>
      <dgm:t>
        <a:bodyPr/>
        <a:lstStyle/>
        <a:p>
          <a:endParaRPr lang="en-US"/>
        </a:p>
      </dgm:t>
    </dgm:pt>
    <dgm:pt modelId="{5D79F7A5-4530-420E-A658-EDD83EE0DCBD}" type="sibTrans" cxnId="{F4C77BFF-1E3D-4711-B079-CDE97078A4DD}">
      <dgm:prSet/>
      <dgm:spPr/>
      <dgm:t>
        <a:bodyPr/>
        <a:lstStyle/>
        <a:p>
          <a:endParaRPr lang="en-US"/>
        </a:p>
      </dgm:t>
    </dgm:pt>
    <dgm:pt modelId="{03A74DF3-ADF8-4047-AC55-859EBACF3F8C}" type="pres">
      <dgm:prSet presAssocID="{D53F1EFC-A32E-430B-B624-04085826D491}" presName="CompostProcess" presStyleCnt="0">
        <dgm:presLayoutVars>
          <dgm:dir/>
          <dgm:resizeHandles val="exact"/>
        </dgm:presLayoutVars>
      </dgm:prSet>
      <dgm:spPr/>
    </dgm:pt>
    <dgm:pt modelId="{EB10F71D-9B87-40E4-A7D0-9095BE975AF6}" type="pres">
      <dgm:prSet presAssocID="{D53F1EFC-A32E-430B-B624-04085826D491}" presName="arrow" presStyleLbl="bgShp" presStyleIdx="0" presStyleCnt="1"/>
      <dgm:spPr/>
    </dgm:pt>
    <dgm:pt modelId="{F7138385-5128-40B4-9213-458C35DCA1D6}" type="pres">
      <dgm:prSet presAssocID="{D53F1EFC-A32E-430B-B624-04085826D491}" presName="linearProcess" presStyleCnt="0"/>
      <dgm:spPr/>
    </dgm:pt>
    <dgm:pt modelId="{7B67F170-9B2E-4A7A-BDA0-9D5034182249}" type="pres">
      <dgm:prSet presAssocID="{82383CF0-A83E-46C4-8D1E-D7624A6FEA58}" presName="textNode" presStyleLbl="node1" presStyleIdx="0" presStyleCnt="4">
        <dgm:presLayoutVars>
          <dgm:bulletEnabled val="1"/>
        </dgm:presLayoutVars>
      </dgm:prSet>
      <dgm:spPr/>
      <dgm:t>
        <a:bodyPr/>
        <a:lstStyle/>
        <a:p>
          <a:endParaRPr lang="en-US"/>
        </a:p>
      </dgm:t>
    </dgm:pt>
    <dgm:pt modelId="{499E813D-1964-4BBB-847C-88C2CBD9F2D5}" type="pres">
      <dgm:prSet presAssocID="{5D79F7A5-4530-420E-A658-EDD83EE0DCBD}" presName="sibTrans" presStyleCnt="0"/>
      <dgm:spPr/>
    </dgm:pt>
    <dgm:pt modelId="{F35B582F-6DB9-42BC-B414-66D35D5E81F0}" type="pres">
      <dgm:prSet presAssocID="{ECF7F720-C257-44D1-9E4A-8A9A8099FF3C}" presName="textNode" presStyleLbl="node1" presStyleIdx="1" presStyleCnt="4">
        <dgm:presLayoutVars>
          <dgm:bulletEnabled val="1"/>
        </dgm:presLayoutVars>
      </dgm:prSet>
      <dgm:spPr/>
      <dgm:t>
        <a:bodyPr/>
        <a:lstStyle/>
        <a:p>
          <a:endParaRPr lang="en-US"/>
        </a:p>
      </dgm:t>
    </dgm:pt>
    <dgm:pt modelId="{B1111F7B-1737-41DB-8245-FE08EFEB8264}" type="pres">
      <dgm:prSet presAssocID="{71D57AD9-7021-4179-9B82-F7F022BAB92C}" presName="sibTrans" presStyleCnt="0"/>
      <dgm:spPr/>
    </dgm:pt>
    <dgm:pt modelId="{BA9D62CA-2B61-464B-A2AC-1092C259656B}" type="pres">
      <dgm:prSet presAssocID="{A8F95643-5CBA-4838-9552-752161A27F98}" presName="textNode" presStyleLbl="node1" presStyleIdx="2" presStyleCnt="4">
        <dgm:presLayoutVars>
          <dgm:bulletEnabled val="1"/>
        </dgm:presLayoutVars>
      </dgm:prSet>
      <dgm:spPr/>
      <dgm:t>
        <a:bodyPr/>
        <a:lstStyle/>
        <a:p>
          <a:endParaRPr lang="en-US"/>
        </a:p>
      </dgm:t>
    </dgm:pt>
    <dgm:pt modelId="{79F733A5-5FC2-442C-95B0-0184006464A0}" type="pres">
      <dgm:prSet presAssocID="{B7EA9DAB-4370-4E76-B7B3-3858E542B460}" presName="sibTrans" presStyleCnt="0"/>
      <dgm:spPr/>
    </dgm:pt>
    <dgm:pt modelId="{FDD72C85-0BA2-4624-AECD-062F40E5F16C}" type="pres">
      <dgm:prSet presAssocID="{AA189C1D-F26B-4175-8F7B-7E8D583CE4B8}" presName="textNode" presStyleLbl="node1" presStyleIdx="3" presStyleCnt="4">
        <dgm:presLayoutVars>
          <dgm:bulletEnabled val="1"/>
        </dgm:presLayoutVars>
      </dgm:prSet>
      <dgm:spPr/>
      <dgm:t>
        <a:bodyPr/>
        <a:lstStyle/>
        <a:p>
          <a:endParaRPr lang="en-US"/>
        </a:p>
      </dgm:t>
    </dgm:pt>
  </dgm:ptLst>
  <dgm:cxnLst>
    <dgm:cxn modelId="{415EAD92-88C7-4AFB-A2B7-C77AC9CE1828}" type="presOf" srcId="{AA189C1D-F26B-4175-8F7B-7E8D583CE4B8}" destId="{FDD72C85-0BA2-4624-AECD-062F40E5F16C}" srcOrd="0" destOrd="0" presId="urn:microsoft.com/office/officeart/2005/8/layout/hProcess9"/>
    <dgm:cxn modelId="{7D32151A-C829-4DBB-B18B-B9559D621C43}" type="presOf" srcId="{A8F95643-5CBA-4838-9552-752161A27F98}" destId="{BA9D62CA-2B61-464B-A2AC-1092C259656B}" srcOrd="0" destOrd="0" presId="urn:microsoft.com/office/officeart/2005/8/layout/hProcess9"/>
    <dgm:cxn modelId="{F4C77BFF-1E3D-4711-B079-CDE97078A4DD}" srcId="{D53F1EFC-A32E-430B-B624-04085826D491}" destId="{82383CF0-A83E-46C4-8D1E-D7624A6FEA58}" srcOrd="0" destOrd="0" parTransId="{797728F4-923D-4ECD-862D-E58C50872973}" sibTransId="{5D79F7A5-4530-420E-A658-EDD83EE0DCBD}"/>
    <dgm:cxn modelId="{F4995473-3579-439D-A1E1-7F219FFABC25}" type="presOf" srcId="{82383CF0-A83E-46C4-8D1E-D7624A6FEA58}" destId="{7B67F170-9B2E-4A7A-BDA0-9D5034182249}" srcOrd="0" destOrd="0" presId="urn:microsoft.com/office/officeart/2005/8/layout/hProcess9"/>
    <dgm:cxn modelId="{E96CFEA7-3671-4406-AD99-391E33636F0F}" type="presOf" srcId="{ECF7F720-C257-44D1-9E4A-8A9A8099FF3C}" destId="{F35B582F-6DB9-42BC-B414-66D35D5E81F0}" srcOrd="0" destOrd="0" presId="urn:microsoft.com/office/officeart/2005/8/layout/hProcess9"/>
    <dgm:cxn modelId="{B3019279-486D-459F-A93D-9C880466D503}" srcId="{D53F1EFC-A32E-430B-B624-04085826D491}" destId="{AA189C1D-F26B-4175-8F7B-7E8D583CE4B8}" srcOrd="3" destOrd="0" parTransId="{D2CFAC19-428A-4427-939A-7A19A3A22995}" sibTransId="{FEE62774-736F-442B-8984-14F6DD55005D}"/>
    <dgm:cxn modelId="{91609C5F-80A7-46C5-9782-7DBBF6E15EB3}" srcId="{D53F1EFC-A32E-430B-B624-04085826D491}" destId="{ECF7F720-C257-44D1-9E4A-8A9A8099FF3C}" srcOrd="1" destOrd="0" parTransId="{9AE6F6DA-B9F5-4021-A86C-381C6021BA5A}" sibTransId="{71D57AD9-7021-4179-9B82-F7F022BAB92C}"/>
    <dgm:cxn modelId="{95D9311F-423C-4D63-AAAF-E8FC6E8E208D}" srcId="{D53F1EFC-A32E-430B-B624-04085826D491}" destId="{A8F95643-5CBA-4838-9552-752161A27F98}" srcOrd="2" destOrd="0" parTransId="{90262CEF-DF3A-4FF0-BBBA-AEFA09D2DA11}" sibTransId="{B7EA9DAB-4370-4E76-B7B3-3858E542B460}"/>
    <dgm:cxn modelId="{3199750C-0919-4D74-A3B1-CD90590CD371}" type="presOf" srcId="{D53F1EFC-A32E-430B-B624-04085826D491}" destId="{03A74DF3-ADF8-4047-AC55-859EBACF3F8C}" srcOrd="0" destOrd="0" presId="urn:microsoft.com/office/officeart/2005/8/layout/hProcess9"/>
    <dgm:cxn modelId="{17889928-721E-4A2E-94EC-598F062D804E}" type="presParOf" srcId="{03A74DF3-ADF8-4047-AC55-859EBACF3F8C}" destId="{EB10F71D-9B87-40E4-A7D0-9095BE975AF6}" srcOrd="0" destOrd="0" presId="urn:microsoft.com/office/officeart/2005/8/layout/hProcess9"/>
    <dgm:cxn modelId="{3301E6B7-A8ED-4221-83FD-02574806874E}" type="presParOf" srcId="{03A74DF3-ADF8-4047-AC55-859EBACF3F8C}" destId="{F7138385-5128-40B4-9213-458C35DCA1D6}" srcOrd="1" destOrd="0" presId="urn:microsoft.com/office/officeart/2005/8/layout/hProcess9"/>
    <dgm:cxn modelId="{635406E0-3189-4331-B970-B656791698C0}" type="presParOf" srcId="{F7138385-5128-40B4-9213-458C35DCA1D6}" destId="{7B67F170-9B2E-4A7A-BDA0-9D5034182249}" srcOrd="0" destOrd="0" presId="urn:microsoft.com/office/officeart/2005/8/layout/hProcess9"/>
    <dgm:cxn modelId="{53A23A40-F757-465B-9588-F5E0977AAC69}" type="presParOf" srcId="{F7138385-5128-40B4-9213-458C35DCA1D6}" destId="{499E813D-1964-4BBB-847C-88C2CBD9F2D5}" srcOrd="1" destOrd="0" presId="urn:microsoft.com/office/officeart/2005/8/layout/hProcess9"/>
    <dgm:cxn modelId="{71EB97F6-3E02-42F5-A299-030101175C07}" type="presParOf" srcId="{F7138385-5128-40B4-9213-458C35DCA1D6}" destId="{F35B582F-6DB9-42BC-B414-66D35D5E81F0}" srcOrd="2" destOrd="0" presId="urn:microsoft.com/office/officeart/2005/8/layout/hProcess9"/>
    <dgm:cxn modelId="{4C099A26-D85F-47F3-9A32-86235CEFEAF6}" type="presParOf" srcId="{F7138385-5128-40B4-9213-458C35DCA1D6}" destId="{B1111F7B-1737-41DB-8245-FE08EFEB8264}" srcOrd="3" destOrd="0" presId="urn:microsoft.com/office/officeart/2005/8/layout/hProcess9"/>
    <dgm:cxn modelId="{F3ECFEB1-E54C-44F4-9BCE-CD8A0C26D5DE}" type="presParOf" srcId="{F7138385-5128-40B4-9213-458C35DCA1D6}" destId="{BA9D62CA-2B61-464B-A2AC-1092C259656B}" srcOrd="4" destOrd="0" presId="urn:microsoft.com/office/officeart/2005/8/layout/hProcess9"/>
    <dgm:cxn modelId="{324E5D02-271F-4664-B9E6-634C8438BEAB}" type="presParOf" srcId="{F7138385-5128-40B4-9213-458C35DCA1D6}" destId="{79F733A5-5FC2-442C-95B0-0184006464A0}" srcOrd="5" destOrd="0" presId="urn:microsoft.com/office/officeart/2005/8/layout/hProcess9"/>
    <dgm:cxn modelId="{AD300781-CA59-4BC0-9CA8-3F930E6CF00F}" type="presParOf" srcId="{F7138385-5128-40B4-9213-458C35DCA1D6}" destId="{FDD72C85-0BA2-4624-AECD-062F40E5F16C}" srcOrd="6" destOrd="0" presId="urn:microsoft.com/office/officeart/2005/8/layout/hProcess9"/>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D82A789F-6821-48F0-9DE1-FB4E38D408B8}" type="doc">
      <dgm:prSet loTypeId="urn:microsoft.com/office/officeart/2005/8/layout/hProcess9" loCatId="process" qsTypeId="urn:microsoft.com/office/officeart/2005/8/quickstyle/simple1" qsCatId="simple" csTypeId="urn:microsoft.com/office/officeart/2005/8/colors/accent1_2" csCatId="accent1" phldr="1"/>
      <dgm:spPr/>
    </dgm:pt>
    <dgm:pt modelId="{CD73AB6C-9A0E-402F-B158-10BC757D6FEA}">
      <dgm:prSet phldrT="[Text]" custT="1"/>
      <dgm:spPr>
        <a:solidFill>
          <a:srgbClr val="002060"/>
        </a:solidFill>
      </dgm:spPr>
      <dgm:t>
        <a:bodyPr/>
        <a:lstStyle/>
        <a:p>
          <a:r>
            <a:rPr lang="en-US" sz="2800" dirty="0" smtClean="0">
              <a:solidFill>
                <a:srgbClr val="FFFF00"/>
              </a:solidFill>
              <a:latin typeface="+mn-lt"/>
            </a:rPr>
            <a:t>Cleaned Data</a:t>
          </a:r>
          <a:endParaRPr lang="en-US" sz="2800" dirty="0">
            <a:solidFill>
              <a:srgbClr val="FFFF00"/>
            </a:solidFill>
            <a:latin typeface="+mn-lt"/>
          </a:endParaRPr>
        </a:p>
      </dgm:t>
    </dgm:pt>
    <dgm:pt modelId="{97490BDB-CFD2-4C9A-B584-2A2D5FD8BBFE}" type="parTrans" cxnId="{EFF2D87D-F9B2-4C7C-A4E0-91AA89BDB6FE}">
      <dgm:prSet/>
      <dgm:spPr/>
      <dgm:t>
        <a:bodyPr/>
        <a:lstStyle/>
        <a:p>
          <a:endParaRPr lang="en-US"/>
        </a:p>
      </dgm:t>
    </dgm:pt>
    <dgm:pt modelId="{7A99A7AF-933E-419B-A680-4DDD59AA7573}" type="sibTrans" cxnId="{EFF2D87D-F9B2-4C7C-A4E0-91AA89BDB6FE}">
      <dgm:prSet/>
      <dgm:spPr/>
      <dgm:t>
        <a:bodyPr/>
        <a:lstStyle/>
        <a:p>
          <a:endParaRPr lang="en-US"/>
        </a:p>
      </dgm:t>
    </dgm:pt>
    <dgm:pt modelId="{39C33203-CFE0-4701-938D-49841A100F9B}">
      <dgm:prSet phldrT="[Text]"/>
      <dgm:spPr/>
      <dgm:t>
        <a:bodyPr/>
        <a:lstStyle/>
        <a:p>
          <a:r>
            <a:rPr lang="en-US" dirty="0" smtClean="0">
              <a:solidFill>
                <a:srgbClr val="FFFF00"/>
              </a:solidFill>
            </a:rPr>
            <a:t>Feature Encoding</a:t>
          </a:r>
          <a:endParaRPr lang="en-US" dirty="0">
            <a:solidFill>
              <a:srgbClr val="FFFF00"/>
            </a:solidFill>
          </a:endParaRPr>
        </a:p>
      </dgm:t>
    </dgm:pt>
    <dgm:pt modelId="{CBC8CA3F-39F0-4AC7-AB1D-FB4519869F7F}" type="parTrans" cxnId="{44940A1D-C179-489F-BCD3-58C7D041DA18}">
      <dgm:prSet/>
      <dgm:spPr/>
      <dgm:t>
        <a:bodyPr/>
        <a:lstStyle/>
        <a:p>
          <a:endParaRPr lang="en-US"/>
        </a:p>
      </dgm:t>
    </dgm:pt>
    <dgm:pt modelId="{551473D5-678A-41B2-9996-E683EF0501FD}" type="sibTrans" cxnId="{44940A1D-C179-489F-BCD3-58C7D041DA18}">
      <dgm:prSet/>
      <dgm:spPr/>
      <dgm:t>
        <a:bodyPr/>
        <a:lstStyle/>
        <a:p>
          <a:endParaRPr lang="en-US"/>
        </a:p>
      </dgm:t>
    </dgm:pt>
    <dgm:pt modelId="{01736152-0C0A-4C0D-A27A-BF7EE8EDA02D}">
      <dgm:prSet phldrT="[Text]"/>
      <dgm:spPr/>
      <dgm:t>
        <a:bodyPr/>
        <a:lstStyle/>
        <a:p>
          <a:r>
            <a:rPr lang="en-US" dirty="0" smtClean="0">
              <a:solidFill>
                <a:srgbClr val="FFFF00"/>
              </a:solidFill>
            </a:rPr>
            <a:t>Feature Selection</a:t>
          </a:r>
          <a:endParaRPr lang="en-US" dirty="0">
            <a:solidFill>
              <a:srgbClr val="FFFF00"/>
            </a:solidFill>
          </a:endParaRPr>
        </a:p>
      </dgm:t>
    </dgm:pt>
    <dgm:pt modelId="{7DE77EBD-3A8B-49D6-A07F-20B5B2B2F872}" type="parTrans" cxnId="{33ECE4E8-45C5-4770-8F4D-919C66298318}">
      <dgm:prSet/>
      <dgm:spPr/>
      <dgm:t>
        <a:bodyPr/>
        <a:lstStyle/>
        <a:p>
          <a:endParaRPr lang="en-US"/>
        </a:p>
      </dgm:t>
    </dgm:pt>
    <dgm:pt modelId="{CE7093BC-9974-49C1-B3EE-379B7C14ED91}" type="sibTrans" cxnId="{33ECE4E8-45C5-4770-8F4D-919C66298318}">
      <dgm:prSet/>
      <dgm:spPr/>
      <dgm:t>
        <a:bodyPr/>
        <a:lstStyle/>
        <a:p>
          <a:endParaRPr lang="en-US"/>
        </a:p>
      </dgm:t>
    </dgm:pt>
    <dgm:pt modelId="{F0A80319-43F9-4D1E-998D-8928C55133EA}">
      <dgm:prSet/>
      <dgm:spPr/>
      <dgm:t>
        <a:bodyPr/>
        <a:lstStyle/>
        <a:p>
          <a:r>
            <a:rPr lang="en-US" dirty="0" smtClean="0">
              <a:solidFill>
                <a:srgbClr val="FFFF00"/>
              </a:solidFill>
            </a:rPr>
            <a:t>Data Splitting</a:t>
          </a:r>
          <a:endParaRPr lang="en-US" dirty="0">
            <a:solidFill>
              <a:srgbClr val="FFFF00"/>
            </a:solidFill>
          </a:endParaRPr>
        </a:p>
      </dgm:t>
    </dgm:pt>
    <dgm:pt modelId="{6FFDD8C4-8DB9-4328-A2ED-9FCAE17BE924}" type="parTrans" cxnId="{61C28C3D-1B27-43AB-8B81-26AFEA2FE8FB}">
      <dgm:prSet/>
      <dgm:spPr/>
      <dgm:t>
        <a:bodyPr/>
        <a:lstStyle/>
        <a:p>
          <a:endParaRPr lang="en-US"/>
        </a:p>
      </dgm:t>
    </dgm:pt>
    <dgm:pt modelId="{24965A06-DAAC-4937-BAD8-653FCE6A130A}" type="sibTrans" cxnId="{61C28C3D-1B27-43AB-8B81-26AFEA2FE8FB}">
      <dgm:prSet/>
      <dgm:spPr/>
      <dgm:t>
        <a:bodyPr/>
        <a:lstStyle/>
        <a:p>
          <a:endParaRPr lang="en-US"/>
        </a:p>
      </dgm:t>
    </dgm:pt>
    <dgm:pt modelId="{8A7F44CE-A9FD-4996-BB54-774EB7AB902B}">
      <dgm:prSet/>
      <dgm:spPr/>
      <dgm:t>
        <a:bodyPr/>
        <a:lstStyle/>
        <a:p>
          <a:r>
            <a:rPr lang="en-US" dirty="0" smtClean="0">
              <a:solidFill>
                <a:srgbClr val="FFFF00"/>
              </a:solidFill>
            </a:rPr>
            <a:t>Feature Scaling</a:t>
          </a:r>
          <a:endParaRPr lang="en-US" dirty="0">
            <a:solidFill>
              <a:srgbClr val="FFFF00"/>
            </a:solidFill>
          </a:endParaRPr>
        </a:p>
      </dgm:t>
    </dgm:pt>
    <dgm:pt modelId="{BAE00C81-2C93-4C35-AF7D-DCC6145FC242}" type="parTrans" cxnId="{10920BC7-C680-4213-998A-AD12CDF7AB54}">
      <dgm:prSet/>
      <dgm:spPr/>
      <dgm:t>
        <a:bodyPr/>
        <a:lstStyle/>
        <a:p>
          <a:endParaRPr lang="en-US"/>
        </a:p>
      </dgm:t>
    </dgm:pt>
    <dgm:pt modelId="{8B951D61-6150-4FCB-BC77-CC8D6CF5AEC1}" type="sibTrans" cxnId="{10920BC7-C680-4213-998A-AD12CDF7AB54}">
      <dgm:prSet/>
      <dgm:spPr/>
      <dgm:t>
        <a:bodyPr/>
        <a:lstStyle/>
        <a:p>
          <a:endParaRPr lang="en-US"/>
        </a:p>
      </dgm:t>
    </dgm:pt>
    <dgm:pt modelId="{1533B8BC-1C29-42EE-9E45-9984B279BDDA}">
      <dgm:prSet/>
      <dgm:spPr>
        <a:solidFill>
          <a:srgbClr val="002060"/>
        </a:solidFill>
      </dgm:spPr>
      <dgm:t>
        <a:bodyPr/>
        <a:lstStyle/>
        <a:p>
          <a:r>
            <a:rPr lang="en-US" dirty="0" smtClean="0">
              <a:solidFill>
                <a:srgbClr val="FFFF00"/>
              </a:solidFill>
            </a:rPr>
            <a:t>Training Process</a:t>
          </a:r>
          <a:endParaRPr lang="en-US" dirty="0">
            <a:solidFill>
              <a:srgbClr val="FFFF00"/>
            </a:solidFill>
          </a:endParaRPr>
        </a:p>
      </dgm:t>
    </dgm:pt>
    <dgm:pt modelId="{D3BE3689-B8DF-4BDC-B0B1-DA01F1C63473}" type="parTrans" cxnId="{767E8159-FFD8-4B0A-91B6-9A08448B4147}">
      <dgm:prSet/>
      <dgm:spPr/>
      <dgm:t>
        <a:bodyPr/>
        <a:lstStyle/>
        <a:p>
          <a:endParaRPr lang="en-US"/>
        </a:p>
      </dgm:t>
    </dgm:pt>
    <dgm:pt modelId="{BCA42073-BA11-49F1-B698-3D43AEA91582}" type="sibTrans" cxnId="{767E8159-FFD8-4B0A-91B6-9A08448B4147}">
      <dgm:prSet/>
      <dgm:spPr/>
      <dgm:t>
        <a:bodyPr/>
        <a:lstStyle/>
        <a:p>
          <a:endParaRPr lang="en-US"/>
        </a:p>
      </dgm:t>
    </dgm:pt>
    <dgm:pt modelId="{F8EAB29C-A126-475B-BB62-B933C884D4FE}" type="pres">
      <dgm:prSet presAssocID="{D82A789F-6821-48F0-9DE1-FB4E38D408B8}" presName="CompostProcess" presStyleCnt="0">
        <dgm:presLayoutVars>
          <dgm:dir/>
          <dgm:resizeHandles val="exact"/>
        </dgm:presLayoutVars>
      </dgm:prSet>
      <dgm:spPr/>
    </dgm:pt>
    <dgm:pt modelId="{9DFBB6A6-E353-4167-BB33-8C17CD6763E7}" type="pres">
      <dgm:prSet presAssocID="{D82A789F-6821-48F0-9DE1-FB4E38D408B8}" presName="arrow" presStyleLbl="bgShp" presStyleIdx="0" presStyleCnt="1"/>
      <dgm:spPr/>
    </dgm:pt>
    <dgm:pt modelId="{52A3ABB6-EA49-4479-9872-627F542C6D3D}" type="pres">
      <dgm:prSet presAssocID="{D82A789F-6821-48F0-9DE1-FB4E38D408B8}" presName="linearProcess" presStyleCnt="0"/>
      <dgm:spPr/>
    </dgm:pt>
    <dgm:pt modelId="{F081B552-F4EA-4F8D-AC7D-76FDB38CD761}" type="pres">
      <dgm:prSet presAssocID="{CD73AB6C-9A0E-402F-B158-10BC757D6FEA}" presName="textNode" presStyleLbl="node1" presStyleIdx="0" presStyleCnt="6">
        <dgm:presLayoutVars>
          <dgm:bulletEnabled val="1"/>
        </dgm:presLayoutVars>
      </dgm:prSet>
      <dgm:spPr/>
      <dgm:t>
        <a:bodyPr/>
        <a:lstStyle/>
        <a:p>
          <a:endParaRPr lang="en-US"/>
        </a:p>
      </dgm:t>
    </dgm:pt>
    <dgm:pt modelId="{9A52F127-842E-4352-9071-A8FD7ECEBD35}" type="pres">
      <dgm:prSet presAssocID="{7A99A7AF-933E-419B-A680-4DDD59AA7573}" presName="sibTrans" presStyleCnt="0"/>
      <dgm:spPr/>
    </dgm:pt>
    <dgm:pt modelId="{31B9E989-6954-4DF4-BE2C-750608F659A2}" type="pres">
      <dgm:prSet presAssocID="{39C33203-CFE0-4701-938D-49841A100F9B}" presName="textNode" presStyleLbl="node1" presStyleIdx="1" presStyleCnt="6">
        <dgm:presLayoutVars>
          <dgm:bulletEnabled val="1"/>
        </dgm:presLayoutVars>
      </dgm:prSet>
      <dgm:spPr/>
      <dgm:t>
        <a:bodyPr/>
        <a:lstStyle/>
        <a:p>
          <a:endParaRPr lang="en-US"/>
        </a:p>
      </dgm:t>
    </dgm:pt>
    <dgm:pt modelId="{9C72C223-E422-4FAD-BB38-4CB303981A33}" type="pres">
      <dgm:prSet presAssocID="{551473D5-678A-41B2-9996-E683EF0501FD}" presName="sibTrans" presStyleCnt="0"/>
      <dgm:spPr/>
    </dgm:pt>
    <dgm:pt modelId="{36D68CE1-F1B6-485B-B18F-0C631FF58F44}" type="pres">
      <dgm:prSet presAssocID="{F0A80319-43F9-4D1E-998D-8928C55133EA}" presName="textNode" presStyleLbl="node1" presStyleIdx="2" presStyleCnt="6">
        <dgm:presLayoutVars>
          <dgm:bulletEnabled val="1"/>
        </dgm:presLayoutVars>
      </dgm:prSet>
      <dgm:spPr/>
      <dgm:t>
        <a:bodyPr/>
        <a:lstStyle/>
        <a:p>
          <a:endParaRPr lang="en-US"/>
        </a:p>
      </dgm:t>
    </dgm:pt>
    <dgm:pt modelId="{336485F8-DC1D-45F1-81FB-4C39C2993DD5}" type="pres">
      <dgm:prSet presAssocID="{24965A06-DAAC-4937-BAD8-653FCE6A130A}" presName="sibTrans" presStyleCnt="0"/>
      <dgm:spPr/>
    </dgm:pt>
    <dgm:pt modelId="{F7D9E96B-4F4F-4741-AB65-05D7418EA9E7}" type="pres">
      <dgm:prSet presAssocID="{8A7F44CE-A9FD-4996-BB54-774EB7AB902B}" presName="textNode" presStyleLbl="node1" presStyleIdx="3" presStyleCnt="6">
        <dgm:presLayoutVars>
          <dgm:bulletEnabled val="1"/>
        </dgm:presLayoutVars>
      </dgm:prSet>
      <dgm:spPr/>
      <dgm:t>
        <a:bodyPr/>
        <a:lstStyle/>
        <a:p>
          <a:endParaRPr lang="en-US"/>
        </a:p>
      </dgm:t>
    </dgm:pt>
    <dgm:pt modelId="{CA40F12F-844F-4643-95C8-881AED3BEC9D}" type="pres">
      <dgm:prSet presAssocID="{8B951D61-6150-4FCB-BC77-CC8D6CF5AEC1}" presName="sibTrans" presStyleCnt="0"/>
      <dgm:spPr/>
    </dgm:pt>
    <dgm:pt modelId="{D50011A9-ABFC-452C-9308-3184BA5C5D65}" type="pres">
      <dgm:prSet presAssocID="{01736152-0C0A-4C0D-A27A-BF7EE8EDA02D}" presName="textNode" presStyleLbl="node1" presStyleIdx="4" presStyleCnt="6">
        <dgm:presLayoutVars>
          <dgm:bulletEnabled val="1"/>
        </dgm:presLayoutVars>
      </dgm:prSet>
      <dgm:spPr/>
      <dgm:t>
        <a:bodyPr/>
        <a:lstStyle/>
        <a:p>
          <a:endParaRPr lang="en-US"/>
        </a:p>
      </dgm:t>
    </dgm:pt>
    <dgm:pt modelId="{5EA51820-097D-4F48-86BB-44E5BFF6278E}" type="pres">
      <dgm:prSet presAssocID="{CE7093BC-9974-49C1-B3EE-379B7C14ED91}" presName="sibTrans" presStyleCnt="0"/>
      <dgm:spPr/>
    </dgm:pt>
    <dgm:pt modelId="{D9DED9EC-4225-435E-BF62-D016A6F4749C}" type="pres">
      <dgm:prSet presAssocID="{1533B8BC-1C29-42EE-9E45-9984B279BDDA}" presName="textNode" presStyleLbl="node1" presStyleIdx="5" presStyleCnt="6">
        <dgm:presLayoutVars>
          <dgm:bulletEnabled val="1"/>
        </dgm:presLayoutVars>
      </dgm:prSet>
      <dgm:spPr/>
      <dgm:t>
        <a:bodyPr/>
        <a:lstStyle/>
        <a:p>
          <a:endParaRPr lang="en-US"/>
        </a:p>
      </dgm:t>
    </dgm:pt>
  </dgm:ptLst>
  <dgm:cxnLst>
    <dgm:cxn modelId="{CE4B4D88-C25D-4DED-A240-0E9D4EEFADFD}" type="presOf" srcId="{1533B8BC-1C29-42EE-9E45-9984B279BDDA}" destId="{D9DED9EC-4225-435E-BF62-D016A6F4749C}" srcOrd="0" destOrd="0" presId="urn:microsoft.com/office/officeart/2005/8/layout/hProcess9"/>
    <dgm:cxn modelId="{33ECE4E8-45C5-4770-8F4D-919C66298318}" srcId="{D82A789F-6821-48F0-9DE1-FB4E38D408B8}" destId="{01736152-0C0A-4C0D-A27A-BF7EE8EDA02D}" srcOrd="4" destOrd="0" parTransId="{7DE77EBD-3A8B-49D6-A07F-20B5B2B2F872}" sibTransId="{CE7093BC-9974-49C1-B3EE-379B7C14ED91}"/>
    <dgm:cxn modelId="{43D00B54-5E29-435B-9E37-3986E71CBB6A}" type="presOf" srcId="{F0A80319-43F9-4D1E-998D-8928C55133EA}" destId="{36D68CE1-F1B6-485B-B18F-0C631FF58F44}" srcOrd="0" destOrd="0" presId="urn:microsoft.com/office/officeart/2005/8/layout/hProcess9"/>
    <dgm:cxn modelId="{44940A1D-C179-489F-BCD3-58C7D041DA18}" srcId="{D82A789F-6821-48F0-9DE1-FB4E38D408B8}" destId="{39C33203-CFE0-4701-938D-49841A100F9B}" srcOrd="1" destOrd="0" parTransId="{CBC8CA3F-39F0-4AC7-AB1D-FB4519869F7F}" sibTransId="{551473D5-678A-41B2-9996-E683EF0501FD}"/>
    <dgm:cxn modelId="{8114BB38-7D4F-4352-903B-324C2FE57287}" type="presOf" srcId="{01736152-0C0A-4C0D-A27A-BF7EE8EDA02D}" destId="{D50011A9-ABFC-452C-9308-3184BA5C5D65}" srcOrd="0" destOrd="0" presId="urn:microsoft.com/office/officeart/2005/8/layout/hProcess9"/>
    <dgm:cxn modelId="{10920BC7-C680-4213-998A-AD12CDF7AB54}" srcId="{D82A789F-6821-48F0-9DE1-FB4E38D408B8}" destId="{8A7F44CE-A9FD-4996-BB54-774EB7AB902B}" srcOrd="3" destOrd="0" parTransId="{BAE00C81-2C93-4C35-AF7D-DCC6145FC242}" sibTransId="{8B951D61-6150-4FCB-BC77-CC8D6CF5AEC1}"/>
    <dgm:cxn modelId="{A72F5363-3CF2-4E38-94D4-8F2CA8979A9A}" type="presOf" srcId="{39C33203-CFE0-4701-938D-49841A100F9B}" destId="{31B9E989-6954-4DF4-BE2C-750608F659A2}" srcOrd="0" destOrd="0" presId="urn:microsoft.com/office/officeart/2005/8/layout/hProcess9"/>
    <dgm:cxn modelId="{B782A99B-E4F5-4EDA-8735-01538399FDB4}" type="presOf" srcId="{CD73AB6C-9A0E-402F-B158-10BC757D6FEA}" destId="{F081B552-F4EA-4F8D-AC7D-76FDB38CD761}" srcOrd="0" destOrd="0" presId="urn:microsoft.com/office/officeart/2005/8/layout/hProcess9"/>
    <dgm:cxn modelId="{576FB75F-0B15-4160-B243-A1960556BEA0}" type="presOf" srcId="{D82A789F-6821-48F0-9DE1-FB4E38D408B8}" destId="{F8EAB29C-A126-475B-BB62-B933C884D4FE}" srcOrd="0" destOrd="0" presId="urn:microsoft.com/office/officeart/2005/8/layout/hProcess9"/>
    <dgm:cxn modelId="{767E8159-FFD8-4B0A-91B6-9A08448B4147}" srcId="{D82A789F-6821-48F0-9DE1-FB4E38D408B8}" destId="{1533B8BC-1C29-42EE-9E45-9984B279BDDA}" srcOrd="5" destOrd="0" parTransId="{D3BE3689-B8DF-4BDC-B0B1-DA01F1C63473}" sibTransId="{BCA42073-BA11-49F1-B698-3D43AEA91582}"/>
    <dgm:cxn modelId="{9AB5B8B7-3D4D-44BC-B068-602AA3A3CA4D}" type="presOf" srcId="{8A7F44CE-A9FD-4996-BB54-774EB7AB902B}" destId="{F7D9E96B-4F4F-4741-AB65-05D7418EA9E7}" srcOrd="0" destOrd="0" presId="urn:microsoft.com/office/officeart/2005/8/layout/hProcess9"/>
    <dgm:cxn modelId="{61C28C3D-1B27-43AB-8B81-26AFEA2FE8FB}" srcId="{D82A789F-6821-48F0-9DE1-FB4E38D408B8}" destId="{F0A80319-43F9-4D1E-998D-8928C55133EA}" srcOrd="2" destOrd="0" parTransId="{6FFDD8C4-8DB9-4328-A2ED-9FCAE17BE924}" sibTransId="{24965A06-DAAC-4937-BAD8-653FCE6A130A}"/>
    <dgm:cxn modelId="{EFF2D87D-F9B2-4C7C-A4E0-91AA89BDB6FE}" srcId="{D82A789F-6821-48F0-9DE1-FB4E38D408B8}" destId="{CD73AB6C-9A0E-402F-B158-10BC757D6FEA}" srcOrd="0" destOrd="0" parTransId="{97490BDB-CFD2-4C9A-B584-2A2D5FD8BBFE}" sibTransId="{7A99A7AF-933E-419B-A680-4DDD59AA7573}"/>
    <dgm:cxn modelId="{516B7F0A-4B02-4A50-B9F7-9D9A7D74AE3B}" type="presParOf" srcId="{F8EAB29C-A126-475B-BB62-B933C884D4FE}" destId="{9DFBB6A6-E353-4167-BB33-8C17CD6763E7}" srcOrd="0" destOrd="0" presId="urn:microsoft.com/office/officeart/2005/8/layout/hProcess9"/>
    <dgm:cxn modelId="{7B2BE23A-D95D-46C3-B928-16DC7EC750F2}" type="presParOf" srcId="{F8EAB29C-A126-475B-BB62-B933C884D4FE}" destId="{52A3ABB6-EA49-4479-9872-627F542C6D3D}" srcOrd="1" destOrd="0" presId="urn:microsoft.com/office/officeart/2005/8/layout/hProcess9"/>
    <dgm:cxn modelId="{0580F275-BF74-410C-A611-F5E59EFD40A5}" type="presParOf" srcId="{52A3ABB6-EA49-4479-9872-627F542C6D3D}" destId="{F081B552-F4EA-4F8D-AC7D-76FDB38CD761}" srcOrd="0" destOrd="0" presId="urn:microsoft.com/office/officeart/2005/8/layout/hProcess9"/>
    <dgm:cxn modelId="{EADE839E-BCB1-4248-B9E4-79B55B9235A6}" type="presParOf" srcId="{52A3ABB6-EA49-4479-9872-627F542C6D3D}" destId="{9A52F127-842E-4352-9071-A8FD7ECEBD35}" srcOrd="1" destOrd="0" presId="urn:microsoft.com/office/officeart/2005/8/layout/hProcess9"/>
    <dgm:cxn modelId="{D5AFE758-42C8-4B39-91E0-16A85E4FEFE5}" type="presParOf" srcId="{52A3ABB6-EA49-4479-9872-627F542C6D3D}" destId="{31B9E989-6954-4DF4-BE2C-750608F659A2}" srcOrd="2" destOrd="0" presId="urn:microsoft.com/office/officeart/2005/8/layout/hProcess9"/>
    <dgm:cxn modelId="{81AD8CB0-48FF-437F-A8E2-075E3916CDA4}" type="presParOf" srcId="{52A3ABB6-EA49-4479-9872-627F542C6D3D}" destId="{9C72C223-E422-4FAD-BB38-4CB303981A33}" srcOrd="3" destOrd="0" presId="urn:microsoft.com/office/officeart/2005/8/layout/hProcess9"/>
    <dgm:cxn modelId="{13C5BC6F-66C3-4D69-9B83-4C751DDCDA0C}" type="presParOf" srcId="{52A3ABB6-EA49-4479-9872-627F542C6D3D}" destId="{36D68CE1-F1B6-485B-B18F-0C631FF58F44}" srcOrd="4" destOrd="0" presId="urn:microsoft.com/office/officeart/2005/8/layout/hProcess9"/>
    <dgm:cxn modelId="{F7FA33A0-452F-4DAF-9498-7AF8BF7D6CB6}" type="presParOf" srcId="{52A3ABB6-EA49-4479-9872-627F542C6D3D}" destId="{336485F8-DC1D-45F1-81FB-4C39C2993DD5}" srcOrd="5" destOrd="0" presId="urn:microsoft.com/office/officeart/2005/8/layout/hProcess9"/>
    <dgm:cxn modelId="{619F75CB-E480-4B84-8BE3-CC37359669CF}" type="presParOf" srcId="{52A3ABB6-EA49-4479-9872-627F542C6D3D}" destId="{F7D9E96B-4F4F-4741-AB65-05D7418EA9E7}" srcOrd="6" destOrd="0" presId="urn:microsoft.com/office/officeart/2005/8/layout/hProcess9"/>
    <dgm:cxn modelId="{4CDF7DAD-E184-4F0E-A1AA-2759D5E4903F}" type="presParOf" srcId="{52A3ABB6-EA49-4479-9872-627F542C6D3D}" destId="{CA40F12F-844F-4643-95C8-881AED3BEC9D}" srcOrd="7" destOrd="0" presId="urn:microsoft.com/office/officeart/2005/8/layout/hProcess9"/>
    <dgm:cxn modelId="{1693D7FE-F9D0-4F7D-A94E-8F7E4E7729BA}" type="presParOf" srcId="{52A3ABB6-EA49-4479-9872-627F542C6D3D}" destId="{D50011A9-ABFC-452C-9308-3184BA5C5D65}" srcOrd="8" destOrd="0" presId="urn:microsoft.com/office/officeart/2005/8/layout/hProcess9"/>
    <dgm:cxn modelId="{EA2EA609-7444-45DE-A7D1-3ED82F15C04F}" type="presParOf" srcId="{52A3ABB6-EA49-4479-9872-627F542C6D3D}" destId="{5EA51820-097D-4F48-86BB-44E5BFF6278E}" srcOrd="9" destOrd="0" presId="urn:microsoft.com/office/officeart/2005/8/layout/hProcess9"/>
    <dgm:cxn modelId="{B6EF60E8-1BDF-4914-ABF8-26B310475CE6}" type="presParOf" srcId="{52A3ABB6-EA49-4479-9872-627F542C6D3D}" destId="{D9DED9EC-4225-435E-BF62-D016A6F4749C}" srcOrd="10" destOrd="0" presId="urn:microsoft.com/office/officeart/2005/8/layout/hProcess9"/>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AD7339E-7FDF-45BB-B1CE-CF192783805E}">
      <dsp:nvSpPr>
        <dsp:cNvPr id="0" name=""/>
        <dsp:cNvSpPr/>
      </dsp:nvSpPr>
      <dsp:spPr>
        <a:xfrm>
          <a:off x="3092900" y="0"/>
          <a:ext cx="1395948" cy="1395948"/>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240" tIns="15240" rIns="15240" bIns="15240" numCol="1" spcCol="1270" anchor="ctr" anchorCtr="0">
          <a:noAutofit/>
        </a:bodyPr>
        <a:lstStyle/>
        <a:p>
          <a:pPr lvl="0" algn="ctr" defTabSz="533400">
            <a:lnSpc>
              <a:spcPct val="90000"/>
            </a:lnSpc>
            <a:spcBef>
              <a:spcPct val="0"/>
            </a:spcBef>
            <a:spcAft>
              <a:spcPct val="35000"/>
            </a:spcAft>
          </a:pPr>
          <a:r>
            <a:rPr lang="en-US" sz="1200" kern="1200" dirty="0" smtClean="0"/>
            <a:t>Inconsistencies</a:t>
          </a:r>
          <a:endParaRPr lang="en-US" sz="1200" kern="1200" dirty="0"/>
        </a:p>
      </dsp:txBody>
      <dsp:txXfrm>
        <a:off x="3297332" y="204432"/>
        <a:ext cx="987084" cy="987084"/>
      </dsp:txXfrm>
    </dsp:sp>
    <dsp:sp modelId="{B0D36E2C-DBD7-4200-8401-AAF2B150C2CF}">
      <dsp:nvSpPr>
        <dsp:cNvPr id="0" name=""/>
        <dsp:cNvSpPr/>
      </dsp:nvSpPr>
      <dsp:spPr>
        <a:xfrm rot="1648379">
          <a:off x="4555252" y="980820"/>
          <a:ext cx="465263" cy="471132"/>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400050">
            <a:lnSpc>
              <a:spcPct val="90000"/>
            </a:lnSpc>
            <a:spcBef>
              <a:spcPct val="0"/>
            </a:spcBef>
            <a:spcAft>
              <a:spcPct val="35000"/>
            </a:spcAft>
          </a:pPr>
          <a:endParaRPr lang="en-US" sz="900" kern="1200"/>
        </a:p>
      </dsp:txBody>
      <dsp:txXfrm>
        <a:off x="4563122" y="1042850"/>
        <a:ext cx="325684" cy="282680"/>
      </dsp:txXfrm>
    </dsp:sp>
    <dsp:sp modelId="{C8C86E02-2CE5-4A16-8F2D-5CBB93180A9E}">
      <dsp:nvSpPr>
        <dsp:cNvPr id="0" name=""/>
        <dsp:cNvSpPr/>
      </dsp:nvSpPr>
      <dsp:spPr>
        <a:xfrm>
          <a:off x="5110284" y="1048974"/>
          <a:ext cx="1395948" cy="1395948"/>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240" tIns="15240" rIns="15240" bIns="15240" numCol="1" spcCol="1270" anchor="ctr" anchorCtr="0">
          <a:noAutofit/>
        </a:bodyPr>
        <a:lstStyle/>
        <a:p>
          <a:pPr lvl="0" algn="ctr" defTabSz="533400">
            <a:lnSpc>
              <a:spcPct val="90000"/>
            </a:lnSpc>
            <a:spcBef>
              <a:spcPct val="0"/>
            </a:spcBef>
            <a:spcAft>
              <a:spcPct val="35000"/>
            </a:spcAft>
          </a:pPr>
          <a:r>
            <a:rPr lang="en-US" sz="1200" kern="1200" dirty="0" smtClean="0"/>
            <a:t>Missing Values</a:t>
          </a:r>
          <a:endParaRPr lang="en-US" sz="1200" kern="1200" dirty="0"/>
        </a:p>
      </dsp:txBody>
      <dsp:txXfrm>
        <a:off x="5314716" y="1253406"/>
        <a:ext cx="987084" cy="987084"/>
      </dsp:txXfrm>
    </dsp:sp>
    <dsp:sp modelId="{A5A652B1-BFE5-4595-A228-DE22FDB34933}">
      <dsp:nvSpPr>
        <dsp:cNvPr id="0" name=""/>
        <dsp:cNvSpPr/>
      </dsp:nvSpPr>
      <dsp:spPr>
        <a:xfrm rot="5400000">
          <a:off x="5622687" y="2548988"/>
          <a:ext cx="371143" cy="471132"/>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400050">
            <a:lnSpc>
              <a:spcPct val="90000"/>
            </a:lnSpc>
            <a:spcBef>
              <a:spcPct val="0"/>
            </a:spcBef>
            <a:spcAft>
              <a:spcPct val="35000"/>
            </a:spcAft>
          </a:pPr>
          <a:endParaRPr lang="en-US" sz="900" kern="1200"/>
        </a:p>
      </dsp:txBody>
      <dsp:txXfrm>
        <a:off x="5678359" y="2587543"/>
        <a:ext cx="259800" cy="282680"/>
      </dsp:txXfrm>
    </dsp:sp>
    <dsp:sp modelId="{57CC86C0-F590-408E-AFE7-97993A703A25}">
      <dsp:nvSpPr>
        <dsp:cNvPr id="0" name=""/>
        <dsp:cNvSpPr/>
      </dsp:nvSpPr>
      <dsp:spPr>
        <a:xfrm>
          <a:off x="5110284" y="3145193"/>
          <a:ext cx="1395948" cy="1395948"/>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240" tIns="15240" rIns="15240" bIns="15240" numCol="1" spcCol="1270" anchor="ctr" anchorCtr="0">
          <a:noAutofit/>
        </a:bodyPr>
        <a:lstStyle/>
        <a:p>
          <a:pPr lvl="0" algn="ctr" defTabSz="533400">
            <a:lnSpc>
              <a:spcPct val="90000"/>
            </a:lnSpc>
            <a:spcBef>
              <a:spcPct val="0"/>
            </a:spcBef>
            <a:spcAft>
              <a:spcPct val="35000"/>
            </a:spcAft>
          </a:pPr>
          <a:r>
            <a:rPr lang="en-US" sz="1200" kern="1200" dirty="0" smtClean="0"/>
            <a:t>Duplicate Values</a:t>
          </a:r>
          <a:endParaRPr lang="en-US" sz="1200" kern="1200" dirty="0"/>
        </a:p>
      </dsp:txBody>
      <dsp:txXfrm>
        <a:off x="5314716" y="3349625"/>
        <a:ext cx="987084" cy="987084"/>
      </dsp:txXfrm>
    </dsp:sp>
    <dsp:sp modelId="{32C57224-D629-4280-8C50-99A87DA9B9E8}">
      <dsp:nvSpPr>
        <dsp:cNvPr id="0" name=""/>
        <dsp:cNvSpPr/>
      </dsp:nvSpPr>
      <dsp:spPr>
        <a:xfrm rot="9000000">
          <a:off x="4724094" y="4126404"/>
          <a:ext cx="371143" cy="471132"/>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400050">
            <a:lnSpc>
              <a:spcPct val="90000"/>
            </a:lnSpc>
            <a:spcBef>
              <a:spcPct val="0"/>
            </a:spcBef>
            <a:spcAft>
              <a:spcPct val="35000"/>
            </a:spcAft>
          </a:pPr>
          <a:endParaRPr lang="en-US" sz="900" kern="1200"/>
        </a:p>
      </dsp:txBody>
      <dsp:txXfrm rot="10800000">
        <a:off x="4827978" y="4192794"/>
        <a:ext cx="259800" cy="282680"/>
      </dsp:txXfrm>
    </dsp:sp>
    <dsp:sp modelId="{A57653B3-24AA-407B-AF7B-648B1C72BC28}">
      <dsp:nvSpPr>
        <dsp:cNvPr id="0" name=""/>
        <dsp:cNvSpPr/>
      </dsp:nvSpPr>
      <dsp:spPr>
        <a:xfrm>
          <a:off x="3294905" y="4193303"/>
          <a:ext cx="1395948" cy="1395948"/>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240" tIns="15240" rIns="15240" bIns="15240" numCol="1" spcCol="1270" anchor="ctr" anchorCtr="0">
          <a:noAutofit/>
        </a:bodyPr>
        <a:lstStyle/>
        <a:p>
          <a:pPr lvl="0" algn="ctr" defTabSz="533400">
            <a:lnSpc>
              <a:spcPct val="90000"/>
            </a:lnSpc>
            <a:spcBef>
              <a:spcPct val="0"/>
            </a:spcBef>
            <a:spcAft>
              <a:spcPct val="35000"/>
            </a:spcAft>
          </a:pPr>
          <a:r>
            <a:rPr lang="en-US" sz="1200" kern="1200" dirty="0" smtClean="0"/>
            <a:t>Outliers</a:t>
          </a:r>
          <a:endParaRPr lang="en-US" sz="1200" kern="1200" dirty="0"/>
        </a:p>
      </dsp:txBody>
      <dsp:txXfrm>
        <a:off x="3499337" y="4397735"/>
        <a:ext cx="987084" cy="987084"/>
      </dsp:txXfrm>
    </dsp:sp>
    <dsp:sp modelId="{042EAF1E-121F-46A2-9A49-3D273583E264}">
      <dsp:nvSpPr>
        <dsp:cNvPr id="0" name=""/>
        <dsp:cNvSpPr/>
      </dsp:nvSpPr>
      <dsp:spPr>
        <a:xfrm rot="12600000">
          <a:off x="2908715" y="4136908"/>
          <a:ext cx="371143" cy="471132"/>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400050">
            <a:lnSpc>
              <a:spcPct val="90000"/>
            </a:lnSpc>
            <a:spcBef>
              <a:spcPct val="0"/>
            </a:spcBef>
            <a:spcAft>
              <a:spcPct val="35000"/>
            </a:spcAft>
          </a:pPr>
          <a:endParaRPr lang="en-US" sz="900" kern="1200"/>
        </a:p>
      </dsp:txBody>
      <dsp:txXfrm rot="10800000">
        <a:off x="3012599" y="4258970"/>
        <a:ext cx="259800" cy="282680"/>
      </dsp:txXfrm>
    </dsp:sp>
    <dsp:sp modelId="{CA4ECE2D-A76C-487F-84E2-FE93A6670D20}">
      <dsp:nvSpPr>
        <dsp:cNvPr id="0" name=""/>
        <dsp:cNvSpPr/>
      </dsp:nvSpPr>
      <dsp:spPr>
        <a:xfrm>
          <a:off x="1479527" y="3145193"/>
          <a:ext cx="1395948" cy="1395948"/>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240" tIns="15240" rIns="15240" bIns="15240" numCol="1" spcCol="1270" anchor="ctr" anchorCtr="0">
          <a:noAutofit/>
        </a:bodyPr>
        <a:lstStyle/>
        <a:p>
          <a:pPr lvl="0" algn="ctr" defTabSz="533400">
            <a:lnSpc>
              <a:spcPct val="90000"/>
            </a:lnSpc>
            <a:spcBef>
              <a:spcPct val="0"/>
            </a:spcBef>
            <a:spcAft>
              <a:spcPct val="35000"/>
            </a:spcAft>
          </a:pPr>
          <a:r>
            <a:rPr lang="en-US" sz="1200" kern="1200" dirty="0" smtClean="0"/>
            <a:t>Feature Engineering</a:t>
          </a:r>
          <a:endParaRPr lang="en-US" sz="1200" kern="1200" dirty="0"/>
        </a:p>
      </dsp:txBody>
      <dsp:txXfrm>
        <a:off x="1683959" y="3349625"/>
        <a:ext cx="987084" cy="987084"/>
      </dsp:txXfrm>
    </dsp:sp>
    <dsp:sp modelId="{1182712C-222D-4C37-94D4-1B686B3B5644}">
      <dsp:nvSpPr>
        <dsp:cNvPr id="0" name=""/>
        <dsp:cNvSpPr/>
      </dsp:nvSpPr>
      <dsp:spPr>
        <a:xfrm rot="16043649">
          <a:off x="1950907" y="2581453"/>
          <a:ext cx="359783" cy="471132"/>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400050">
            <a:lnSpc>
              <a:spcPct val="90000"/>
            </a:lnSpc>
            <a:spcBef>
              <a:spcPct val="0"/>
            </a:spcBef>
            <a:spcAft>
              <a:spcPct val="35000"/>
            </a:spcAft>
          </a:pPr>
          <a:endParaRPr lang="en-US" sz="900" kern="1200"/>
        </a:p>
      </dsp:txBody>
      <dsp:txXfrm rot="10800000">
        <a:off x="2007328" y="2729591"/>
        <a:ext cx="251848" cy="282680"/>
      </dsp:txXfrm>
    </dsp:sp>
    <dsp:sp modelId="{0D8732D0-ADDA-4282-861A-D6402C8CA9EC}">
      <dsp:nvSpPr>
        <dsp:cNvPr id="0" name=""/>
        <dsp:cNvSpPr/>
      </dsp:nvSpPr>
      <dsp:spPr>
        <a:xfrm>
          <a:off x="1385196" y="1072553"/>
          <a:ext cx="1395948" cy="1395948"/>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240" tIns="15240" rIns="15240" bIns="15240" numCol="1" spcCol="1270" anchor="ctr" anchorCtr="0">
          <a:noAutofit/>
        </a:bodyPr>
        <a:lstStyle/>
        <a:p>
          <a:pPr lvl="0" algn="ctr" defTabSz="533400">
            <a:lnSpc>
              <a:spcPct val="90000"/>
            </a:lnSpc>
            <a:spcBef>
              <a:spcPct val="0"/>
            </a:spcBef>
            <a:spcAft>
              <a:spcPct val="35000"/>
            </a:spcAft>
          </a:pPr>
          <a:r>
            <a:rPr lang="en-US" sz="1200" kern="1200" dirty="0" smtClean="0"/>
            <a:t>Correlated Features</a:t>
          </a:r>
          <a:endParaRPr lang="en-US" sz="1200" kern="1200" dirty="0"/>
        </a:p>
      </dsp:txBody>
      <dsp:txXfrm>
        <a:off x="1589628" y="1276985"/>
        <a:ext cx="987084" cy="987084"/>
      </dsp:txXfrm>
    </dsp:sp>
    <dsp:sp modelId="{1B6B29B4-1E4A-4FFE-BADE-49C3C46E908F}">
      <dsp:nvSpPr>
        <dsp:cNvPr id="0" name=""/>
        <dsp:cNvSpPr/>
      </dsp:nvSpPr>
      <dsp:spPr>
        <a:xfrm rot="19672104">
          <a:off x="2764670" y="1003636"/>
          <a:ext cx="328938" cy="471132"/>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400050">
            <a:lnSpc>
              <a:spcPct val="90000"/>
            </a:lnSpc>
            <a:spcBef>
              <a:spcPct val="0"/>
            </a:spcBef>
            <a:spcAft>
              <a:spcPct val="35000"/>
            </a:spcAft>
          </a:pPr>
          <a:endParaRPr lang="en-US" sz="900" kern="1200"/>
        </a:p>
      </dsp:txBody>
      <dsp:txXfrm>
        <a:off x="2772228" y="1124105"/>
        <a:ext cx="230257" cy="28268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B10F71D-9B87-40E4-A7D0-9095BE975AF6}">
      <dsp:nvSpPr>
        <dsp:cNvPr id="0" name=""/>
        <dsp:cNvSpPr/>
      </dsp:nvSpPr>
      <dsp:spPr>
        <a:xfrm>
          <a:off x="611310" y="0"/>
          <a:ext cx="6928186" cy="2592700"/>
        </a:xfrm>
        <a:prstGeom prst="rightArrow">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B67F170-9B2E-4A7A-BDA0-9D5034182249}">
      <dsp:nvSpPr>
        <dsp:cNvPr id="0" name=""/>
        <dsp:cNvSpPr/>
      </dsp:nvSpPr>
      <dsp:spPr>
        <a:xfrm>
          <a:off x="2785" y="777810"/>
          <a:ext cx="1810052" cy="103708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lvl="0" algn="ctr" defTabSz="889000">
            <a:lnSpc>
              <a:spcPct val="90000"/>
            </a:lnSpc>
            <a:spcBef>
              <a:spcPct val="0"/>
            </a:spcBef>
            <a:spcAft>
              <a:spcPct val="35000"/>
            </a:spcAft>
          </a:pPr>
          <a:r>
            <a:rPr lang="en-US" sz="2000" kern="1200" dirty="0" smtClean="0">
              <a:solidFill>
                <a:srgbClr val="FFFF00"/>
              </a:solidFill>
            </a:rPr>
            <a:t>Data Collection</a:t>
          </a:r>
          <a:endParaRPr lang="en-US" sz="2000" kern="1200" dirty="0">
            <a:solidFill>
              <a:srgbClr val="FFFF00"/>
            </a:solidFill>
          </a:endParaRPr>
        </a:p>
      </dsp:txBody>
      <dsp:txXfrm>
        <a:off x="53411" y="828436"/>
        <a:ext cx="1708800" cy="935828"/>
      </dsp:txXfrm>
    </dsp:sp>
    <dsp:sp modelId="{F35B582F-6DB9-42BC-B414-66D35D5E81F0}">
      <dsp:nvSpPr>
        <dsp:cNvPr id="0" name=""/>
        <dsp:cNvSpPr/>
      </dsp:nvSpPr>
      <dsp:spPr>
        <a:xfrm>
          <a:off x="2114513" y="777810"/>
          <a:ext cx="1810052" cy="103708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lvl="0" algn="ctr" defTabSz="889000">
            <a:lnSpc>
              <a:spcPct val="90000"/>
            </a:lnSpc>
            <a:spcBef>
              <a:spcPct val="0"/>
            </a:spcBef>
            <a:spcAft>
              <a:spcPct val="35000"/>
            </a:spcAft>
          </a:pPr>
          <a:r>
            <a:rPr lang="en-US" sz="2000" kern="1200" dirty="0" smtClean="0">
              <a:solidFill>
                <a:srgbClr val="FFFF00"/>
              </a:solidFill>
            </a:rPr>
            <a:t>Data Cleaning and Modelling</a:t>
          </a:r>
          <a:endParaRPr lang="en-US" sz="2000" kern="1200" dirty="0">
            <a:solidFill>
              <a:srgbClr val="FFFF00"/>
            </a:solidFill>
          </a:endParaRPr>
        </a:p>
      </dsp:txBody>
      <dsp:txXfrm>
        <a:off x="2165139" y="828436"/>
        <a:ext cx="1708800" cy="935828"/>
      </dsp:txXfrm>
    </dsp:sp>
    <dsp:sp modelId="{BA9D62CA-2B61-464B-A2AC-1092C259656B}">
      <dsp:nvSpPr>
        <dsp:cNvPr id="0" name=""/>
        <dsp:cNvSpPr/>
      </dsp:nvSpPr>
      <dsp:spPr>
        <a:xfrm>
          <a:off x="4226241" y="777810"/>
          <a:ext cx="1810052" cy="103708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lvl="0" algn="ctr" defTabSz="889000">
            <a:lnSpc>
              <a:spcPct val="90000"/>
            </a:lnSpc>
            <a:spcBef>
              <a:spcPct val="0"/>
            </a:spcBef>
            <a:spcAft>
              <a:spcPct val="35000"/>
            </a:spcAft>
          </a:pPr>
          <a:r>
            <a:rPr lang="en-US" sz="2000" kern="1200" dirty="0" smtClean="0">
              <a:solidFill>
                <a:srgbClr val="FFFF00"/>
              </a:solidFill>
            </a:rPr>
            <a:t>Model Training</a:t>
          </a:r>
          <a:endParaRPr lang="en-US" sz="2000" kern="1200" dirty="0">
            <a:solidFill>
              <a:srgbClr val="FFFF00"/>
            </a:solidFill>
          </a:endParaRPr>
        </a:p>
      </dsp:txBody>
      <dsp:txXfrm>
        <a:off x="4276867" y="828436"/>
        <a:ext cx="1708800" cy="935828"/>
      </dsp:txXfrm>
    </dsp:sp>
    <dsp:sp modelId="{FDD72C85-0BA2-4624-AECD-062F40E5F16C}">
      <dsp:nvSpPr>
        <dsp:cNvPr id="0" name=""/>
        <dsp:cNvSpPr/>
      </dsp:nvSpPr>
      <dsp:spPr>
        <a:xfrm>
          <a:off x="6337969" y="777810"/>
          <a:ext cx="1810052" cy="103708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lvl="0" algn="ctr" defTabSz="889000">
            <a:lnSpc>
              <a:spcPct val="90000"/>
            </a:lnSpc>
            <a:spcBef>
              <a:spcPct val="0"/>
            </a:spcBef>
            <a:spcAft>
              <a:spcPct val="35000"/>
            </a:spcAft>
          </a:pPr>
          <a:r>
            <a:rPr lang="en-US" sz="2000" kern="1200" dirty="0" smtClean="0">
              <a:solidFill>
                <a:srgbClr val="FFFF00"/>
              </a:solidFill>
            </a:rPr>
            <a:t>Model Evaluation</a:t>
          </a:r>
          <a:endParaRPr lang="en-US" sz="2000" kern="1200" dirty="0">
            <a:solidFill>
              <a:srgbClr val="FFFF00"/>
            </a:solidFill>
          </a:endParaRPr>
        </a:p>
      </dsp:txBody>
      <dsp:txXfrm>
        <a:off x="6388595" y="828436"/>
        <a:ext cx="1708800" cy="935828"/>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DFBB6A6-E353-4167-BB33-8C17CD6763E7}">
      <dsp:nvSpPr>
        <dsp:cNvPr id="0" name=""/>
        <dsp:cNvSpPr/>
      </dsp:nvSpPr>
      <dsp:spPr>
        <a:xfrm>
          <a:off x="838588" y="0"/>
          <a:ext cx="9504006" cy="2419738"/>
        </a:xfrm>
        <a:prstGeom prst="rightArrow">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081B552-F4EA-4F8D-AC7D-76FDB38CD761}">
      <dsp:nvSpPr>
        <dsp:cNvPr id="0" name=""/>
        <dsp:cNvSpPr/>
      </dsp:nvSpPr>
      <dsp:spPr>
        <a:xfrm>
          <a:off x="2303" y="725921"/>
          <a:ext cx="1738785" cy="967895"/>
        </a:xfrm>
        <a:prstGeom prst="roundRect">
          <a:avLst/>
        </a:prstGeom>
        <a:solidFill>
          <a:srgbClr val="00206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lvl="0" algn="ctr" defTabSz="1244600">
            <a:lnSpc>
              <a:spcPct val="90000"/>
            </a:lnSpc>
            <a:spcBef>
              <a:spcPct val="0"/>
            </a:spcBef>
            <a:spcAft>
              <a:spcPct val="35000"/>
            </a:spcAft>
          </a:pPr>
          <a:r>
            <a:rPr lang="en-US" sz="2800" kern="1200" dirty="0" smtClean="0">
              <a:solidFill>
                <a:srgbClr val="FFFF00"/>
              </a:solidFill>
              <a:latin typeface="+mn-lt"/>
            </a:rPr>
            <a:t>Cleaned Data</a:t>
          </a:r>
          <a:endParaRPr lang="en-US" sz="2800" kern="1200" dirty="0">
            <a:solidFill>
              <a:srgbClr val="FFFF00"/>
            </a:solidFill>
            <a:latin typeface="+mn-lt"/>
          </a:endParaRPr>
        </a:p>
      </dsp:txBody>
      <dsp:txXfrm>
        <a:off x="49552" y="773170"/>
        <a:ext cx="1644287" cy="873397"/>
      </dsp:txXfrm>
    </dsp:sp>
    <dsp:sp modelId="{31B9E989-6954-4DF4-BE2C-750608F659A2}">
      <dsp:nvSpPr>
        <dsp:cNvPr id="0" name=""/>
        <dsp:cNvSpPr/>
      </dsp:nvSpPr>
      <dsp:spPr>
        <a:xfrm>
          <a:off x="1889861" y="725921"/>
          <a:ext cx="1738785" cy="96789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lvl="0" algn="ctr" defTabSz="1066800">
            <a:lnSpc>
              <a:spcPct val="90000"/>
            </a:lnSpc>
            <a:spcBef>
              <a:spcPct val="0"/>
            </a:spcBef>
            <a:spcAft>
              <a:spcPct val="35000"/>
            </a:spcAft>
          </a:pPr>
          <a:r>
            <a:rPr lang="en-US" sz="2400" kern="1200" dirty="0" smtClean="0">
              <a:solidFill>
                <a:srgbClr val="FFFF00"/>
              </a:solidFill>
            </a:rPr>
            <a:t>Feature Encoding</a:t>
          </a:r>
          <a:endParaRPr lang="en-US" sz="2400" kern="1200" dirty="0">
            <a:solidFill>
              <a:srgbClr val="FFFF00"/>
            </a:solidFill>
          </a:endParaRPr>
        </a:p>
      </dsp:txBody>
      <dsp:txXfrm>
        <a:off x="1937110" y="773170"/>
        <a:ext cx="1644287" cy="873397"/>
      </dsp:txXfrm>
    </dsp:sp>
    <dsp:sp modelId="{36D68CE1-F1B6-485B-B18F-0C631FF58F44}">
      <dsp:nvSpPr>
        <dsp:cNvPr id="0" name=""/>
        <dsp:cNvSpPr/>
      </dsp:nvSpPr>
      <dsp:spPr>
        <a:xfrm>
          <a:off x="3777420" y="725921"/>
          <a:ext cx="1738785" cy="96789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lvl="0" algn="ctr" defTabSz="1066800">
            <a:lnSpc>
              <a:spcPct val="90000"/>
            </a:lnSpc>
            <a:spcBef>
              <a:spcPct val="0"/>
            </a:spcBef>
            <a:spcAft>
              <a:spcPct val="35000"/>
            </a:spcAft>
          </a:pPr>
          <a:r>
            <a:rPr lang="en-US" sz="2400" kern="1200" dirty="0" smtClean="0">
              <a:solidFill>
                <a:srgbClr val="FFFF00"/>
              </a:solidFill>
            </a:rPr>
            <a:t>Data Splitting</a:t>
          </a:r>
          <a:endParaRPr lang="en-US" sz="2400" kern="1200" dirty="0">
            <a:solidFill>
              <a:srgbClr val="FFFF00"/>
            </a:solidFill>
          </a:endParaRPr>
        </a:p>
      </dsp:txBody>
      <dsp:txXfrm>
        <a:off x="3824669" y="773170"/>
        <a:ext cx="1644287" cy="873397"/>
      </dsp:txXfrm>
    </dsp:sp>
    <dsp:sp modelId="{F7D9E96B-4F4F-4741-AB65-05D7418EA9E7}">
      <dsp:nvSpPr>
        <dsp:cNvPr id="0" name=""/>
        <dsp:cNvSpPr/>
      </dsp:nvSpPr>
      <dsp:spPr>
        <a:xfrm>
          <a:off x="5664978" y="725921"/>
          <a:ext cx="1738785" cy="96789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lvl="0" algn="ctr" defTabSz="1066800">
            <a:lnSpc>
              <a:spcPct val="90000"/>
            </a:lnSpc>
            <a:spcBef>
              <a:spcPct val="0"/>
            </a:spcBef>
            <a:spcAft>
              <a:spcPct val="35000"/>
            </a:spcAft>
          </a:pPr>
          <a:r>
            <a:rPr lang="en-US" sz="2400" kern="1200" dirty="0" smtClean="0">
              <a:solidFill>
                <a:srgbClr val="FFFF00"/>
              </a:solidFill>
            </a:rPr>
            <a:t>Feature Scaling</a:t>
          </a:r>
          <a:endParaRPr lang="en-US" sz="2400" kern="1200" dirty="0">
            <a:solidFill>
              <a:srgbClr val="FFFF00"/>
            </a:solidFill>
          </a:endParaRPr>
        </a:p>
      </dsp:txBody>
      <dsp:txXfrm>
        <a:off x="5712227" y="773170"/>
        <a:ext cx="1644287" cy="873397"/>
      </dsp:txXfrm>
    </dsp:sp>
    <dsp:sp modelId="{D50011A9-ABFC-452C-9308-3184BA5C5D65}">
      <dsp:nvSpPr>
        <dsp:cNvPr id="0" name=""/>
        <dsp:cNvSpPr/>
      </dsp:nvSpPr>
      <dsp:spPr>
        <a:xfrm>
          <a:off x="7552536" y="725921"/>
          <a:ext cx="1738785" cy="96789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lvl="0" algn="ctr" defTabSz="1066800">
            <a:lnSpc>
              <a:spcPct val="90000"/>
            </a:lnSpc>
            <a:spcBef>
              <a:spcPct val="0"/>
            </a:spcBef>
            <a:spcAft>
              <a:spcPct val="35000"/>
            </a:spcAft>
          </a:pPr>
          <a:r>
            <a:rPr lang="en-US" sz="2400" kern="1200" dirty="0" smtClean="0">
              <a:solidFill>
                <a:srgbClr val="FFFF00"/>
              </a:solidFill>
            </a:rPr>
            <a:t>Feature Selection</a:t>
          </a:r>
          <a:endParaRPr lang="en-US" sz="2400" kern="1200" dirty="0">
            <a:solidFill>
              <a:srgbClr val="FFFF00"/>
            </a:solidFill>
          </a:endParaRPr>
        </a:p>
      </dsp:txBody>
      <dsp:txXfrm>
        <a:off x="7599785" y="773170"/>
        <a:ext cx="1644287" cy="873397"/>
      </dsp:txXfrm>
    </dsp:sp>
    <dsp:sp modelId="{D9DED9EC-4225-435E-BF62-D016A6F4749C}">
      <dsp:nvSpPr>
        <dsp:cNvPr id="0" name=""/>
        <dsp:cNvSpPr/>
      </dsp:nvSpPr>
      <dsp:spPr>
        <a:xfrm>
          <a:off x="9440095" y="725921"/>
          <a:ext cx="1738785" cy="967895"/>
        </a:xfrm>
        <a:prstGeom prst="roundRect">
          <a:avLst/>
        </a:prstGeom>
        <a:solidFill>
          <a:srgbClr val="00206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lvl="0" algn="ctr" defTabSz="1066800">
            <a:lnSpc>
              <a:spcPct val="90000"/>
            </a:lnSpc>
            <a:spcBef>
              <a:spcPct val="0"/>
            </a:spcBef>
            <a:spcAft>
              <a:spcPct val="35000"/>
            </a:spcAft>
          </a:pPr>
          <a:r>
            <a:rPr lang="en-US" sz="2400" kern="1200" dirty="0" smtClean="0">
              <a:solidFill>
                <a:srgbClr val="FFFF00"/>
              </a:solidFill>
            </a:rPr>
            <a:t>Training Process</a:t>
          </a:r>
          <a:endParaRPr lang="en-US" sz="2400" kern="1200" dirty="0">
            <a:solidFill>
              <a:srgbClr val="FFFF00"/>
            </a:solidFill>
          </a:endParaRPr>
        </a:p>
      </dsp:txBody>
      <dsp:txXfrm>
        <a:off x="9487344" y="773170"/>
        <a:ext cx="1644287" cy="873397"/>
      </dsp:txXfrm>
    </dsp:sp>
  </dsp:spTree>
</dsp:drawing>
</file>

<file path=ppt/diagrams/layout1.xml><?xml version="1.0" encoding="utf-8"?>
<dgm:layoutDef xmlns:dgm="http://schemas.openxmlformats.org/drawingml/2006/diagram" xmlns:a="http://schemas.openxmlformats.org/drawingml/2006/main" uniqueId="urn:microsoft.com/office/officeart/2005/8/layout/cycle2">
  <dgm:title val=""/>
  <dgm:desc val=""/>
  <dgm:catLst>
    <dgm:cat type="cycle" pri="1000"/>
    <dgm:cat type="convert" pri="10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choose name="Name2">
          <dgm:if name="Name3" axis="ch" ptType="node" func="cnt" op="gt" val="2">
            <dgm:alg type="cycle">
              <dgm:param type="stAng" val="0"/>
              <dgm:param type="spanAng" val="360"/>
            </dgm:alg>
          </dgm:if>
          <dgm:else name="Name4">
            <dgm:alg type="cycle">
              <dgm:param type="stAng" val="-90"/>
              <dgm:param type="spanAng" val="360"/>
            </dgm:alg>
          </dgm:else>
        </dgm:choose>
      </dgm:if>
      <dgm:else name="Name5">
        <dgm:choose name="Name6">
          <dgm:if name="Name7" axis="ch" ptType="node" func="cnt" op="gt" val="2">
            <dgm:alg type="cycle">
              <dgm:param type="stAng" val="0"/>
              <dgm:param type="spanAng" val="-360"/>
            </dgm:alg>
          </dgm:if>
          <dgm:else name="Name8">
            <dgm:alg type="cycle">
              <dgm:param type="stAng" val="90"/>
              <dgm:param type="spanAng" val="-360"/>
            </dgm:alg>
          </dgm:else>
        </dgm:choose>
      </dgm:else>
    </dgm:choose>
    <dgm:shape xmlns:r="http://schemas.openxmlformats.org/officeDocument/2006/relationships" r:blip="">
      <dgm:adjLst/>
    </dgm:shape>
    <dgm:presOf/>
    <dgm:constrLst>
      <dgm:constr type="w" for="ch" ptType="node" refType="w"/>
      <dgm:constr type="w" for="ch" ptType="sibTrans" refType="w" refFor="ch" refPtType="node" op="equ" fact="0.25"/>
      <dgm:constr type="sibSp" refType="w" refFor="ch" refPtType="node" fact="0.5"/>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lMarg" refType="primFontSz" fact="0.1"/>
          <dgm:constr type="rMarg" refType="primFontSz" fact="0.1"/>
          <dgm:constr type="tMarg" refType="primFontSz" fact="0.1"/>
          <dgm:constr type="bMarg" refType="primFontSz" fact="0.1"/>
        </dgm:constrLst>
        <dgm:ruleLst>
          <dgm:rule type="primFontSz" val="5" fact="NaN" max="NaN"/>
        </dgm:ruleLst>
      </dgm:layoutNode>
      <dgm:choose name="Name9">
        <dgm:if name="Name10" axis="par ch" ptType="doc node" func="cnt" op="gt" val="1">
          <dgm:forEach name="sibTransForEach" axis="followSib" ptType="sibTrans" hideLastTrans="0" cnt="1">
            <dgm:layoutNode name="sibTrans">
              <dgm:choose name="Name11">
                <dgm:if name="Name12" axis="par ch" ptType="doc node" func="cnt" op="lt" val="3">
                  <dgm:alg type="conn">
                    <dgm:param type="begPts" val="radial"/>
                    <dgm:param type="endPts" val="radial"/>
                  </dgm:alg>
                </dgm:if>
                <dgm:else name="Name13">
                  <dgm:alg type="conn">
                    <dgm:param type="begPts" val="auto"/>
                    <dgm:param type="endPts" val="auto"/>
                  </dgm:alg>
                </dgm:else>
              </dgm:choose>
              <dgm:shape xmlns:r="http://schemas.openxmlformats.org/officeDocument/2006/relationships" type="conn" r:blip="">
                <dgm:adjLst/>
              </dgm:shape>
              <dgm:presOf axis="self"/>
              <dgm:constrLst>
                <dgm:constr type="h" refType="w" fact="1.35"/>
                <dgm:constr type="connDist"/>
                <dgm:constr type="w" for="ch" refType="connDist" fact="0.45"/>
                <dgm:constr type="h" for="ch" refType="h"/>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if>
        <dgm:else name="Name14"/>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hProcess9">
  <dgm:title val=""/>
  <dgm:desc val=""/>
  <dgm:catLst>
    <dgm:cat type="process" pri="5000"/>
    <dgm:cat type="convert"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horzAlign" val="ctr"/>
      <dgm:param type="vertAlign" val="mid"/>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layout3.xml><?xml version="1.0" encoding="utf-8"?>
<dgm:layoutDef xmlns:dgm="http://schemas.openxmlformats.org/drawingml/2006/diagram" xmlns:a="http://schemas.openxmlformats.org/drawingml/2006/main" uniqueId="urn:microsoft.com/office/officeart/2005/8/layout/hProcess9">
  <dgm:title val=""/>
  <dgm:desc val=""/>
  <dgm:catLst>
    <dgm:cat type="process" pri="5000"/>
    <dgm:cat type="convert"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horzAlign" val="ctr"/>
      <dgm:param type="vertAlign" val="mid"/>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GB"/>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GB"/>
          </a:p>
        </p:txBody>
      </p:sp>
      <p:sp>
        <p:nvSpPr>
          <p:cNvPr id="4" name="Date Placeholder 3"/>
          <p:cNvSpPr>
            <a:spLocks noGrp="1"/>
          </p:cNvSpPr>
          <p:nvPr>
            <p:ph type="dt" sz="half" idx="10"/>
          </p:nvPr>
        </p:nvSpPr>
        <p:spPr/>
        <p:txBody>
          <a:bodyPr/>
          <a:lstStyle/>
          <a:p>
            <a:fld id="{EA578920-26F4-43E5-B1BE-61E1F8DA347E}" type="datetimeFigureOut">
              <a:rPr lang="en-GB" smtClean="0"/>
              <a:t>15/04/2025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078EA23-7685-43C5-92E4-E8AC6FB53CF0}" type="slidenum">
              <a:rPr lang="en-GB" smtClean="0"/>
              <a:t>‹#›</a:t>
            </a:fld>
            <a:endParaRPr lang="en-GB"/>
          </a:p>
        </p:txBody>
      </p:sp>
    </p:spTree>
    <p:extLst>
      <p:ext uri="{BB962C8B-B14F-4D97-AF65-F5344CB8AC3E}">
        <p14:creationId xmlns:p14="http://schemas.microsoft.com/office/powerpoint/2010/main" val="94785505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10"/>
          </p:nvPr>
        </p:nvSpPr>
        <p:spPr/>
        <p:txBody>
          <a:bodyPr/>
          <a:lstStyle/>
          <a:p>
            <a:fld id="{EA578920-26F4-43E5-B1BE-61E1F8DA347E}" type="datetimeFigureOut">
              <a:rPr lang="en-GB" smtClean="0"/>
              <a:t>15/04/2025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078EA23-7685-43C5-92E4-E8AC6FB53CF0}" type="slidenum">
              <a:rPr lang="en-GB" smtClean="0"/>
              <a:t>‹#›</a:t>
            </a:fld>
            <a:endParaRPr lang="en-GB"/>
          </a:p>
        </p:txBody>
      </p:sp>
    </p:spTree>
    <p:extLst>
      <p:ext uri="{BB962C8B-B14F-4D97-AF65-F5344CB8AC3E}">
        <p14:creationId xmlns:p14="http://schemas.microsoft.com/office/powerpoint/2010/main" val="17317232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GB"/>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EA578920-26F4-43E5-B1BE-61E1F8DA347E}" type="datetimeFigureOut">
              <a:rPr lang="en-GB" smtClean="0"/>
              <a:t>15/04/2025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078EA23-7685-43C5-92E4-E8AC6FB53CF0}" type="slidenum">
              <a:rPr lang="en-GB" smtClean="0"/>
              <a:t>‹#›</a:t>
            </a:fld>
            <a:endParaRPr lang="en-GB"/>
          </a:p>
        </p:txBody>
      </p:sp>
    </p:spTree>
    <p:extLst>
      <p:ext uri="{BB962C8B-B14F-4D97-AF65-F5344CB8AC3E}">
        <p14:creationId xmlns:p14="http://schemas.microsoft.com/office/powerpoint/2010/main" val="119197854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Date Placeholder 4"/>
          <p:cNvSpPr>
            <a:spLocks noGrp="1"/>
          </p:cNvSpPr>
          <p:nvPr>
            <p:ph type="dt" sz="half" idx="10"/>
          </p:nvPr>
        </p:nvSpPr>
        <p:spPr/>
        <p:txBody>
          <a:bodyPr/>
          <a:lstStyle/>
          <a:p>
            <a:fld id="{EA578920-26F4-43E5-B1BE-61E1F8DA347E}" type="datetimeFigureOut">
              <a:rPr lang="en-GB" smtClean="0"/>
              <a:t>15/04/2025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3078EA23-7685-43C5-92E4-E8AC6FB53CF0}" type="slidenum">
              <a:rPr lang="en-GB" smtClean="0"/>
              <a:t>‹#›</a:t>
            </a:fld>
            <a:endParaRPr lang="en-GB"/>
          </a:p>
        </p:txBody>
      </p:sp>
    </p:spTree>
    <p:extLst>
      <p:ext uri="{BB962C8B-B14F-4D97-AF65-F5344CB8AC3E}">
        <p14:creationId xmlns:p14="http://schemas.microsoft.com/office/powerpoint/2010/main" val="104066368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GB"/>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7" name="Date Placeholder 6"/>
          <p:cNvSpPr>
            <a:spLocks noGrp="1"/>
          </p:cNvSpPr>
          <p:nvPr>
            <p:ph type="dt" sz="half" idx="10"/>
          </p:nvPr>
        </p:nvSpPr>
        <p:spPr/>
        <p:txBody>
          <a:bodyPr/>
          <a:lstStyle/>
          <a:p>
            <a:fld id="{EA578920-26F4-43E5-B1BE-61E1F8DA347E}" type="datetimeFigureOut">
              <a:rPr lang="en-GB" smtClean="0"/>
              <a:t>15/04/2025</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3078EA23-7685-43C5-92E4-E8AC6FB53CF0}" type="slidenum">
              <a:rPr lang="en-GB" smtClean="0"/>
              <a:t>‹#›</a:t>
            </a:fld>
            <a:endParaRPr lang="en-GB"/>
          </a:p>
        </p:txBody>
      </p:sp>
    </p:spTree>
    <p:extLst>
      <p:ext uri="{BB962C8B-B14F-4D97-AF65-F5344CB8AC3E}">
        <p14:creationId xmlns:p14="http://schemas.microsoft.com/office/powerpoint/2010/main" val="207199325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Date Placeholder 2"/>
          <p:cNvSpPr>
            <a:spLocks noGrp="1"/>
          </p:cNvSpPr>
          <p:nvPr>
            <p:ph type="dt" sz="half" idx="10"/>
          </p:nvPr>
        </p:nvSpPr>
        <p:spPr/>
        <p:txBody>
          <a:bodyPr/>
          <a:lstStyle/>
          <a:p>
            <a:fld id="{EA578920-26F4-43E5-B1BE-61E1F8DA347E}" type="datetimeFigureOut">
              <a:rPr lang="en-GB" smtClean="0"/>
              <a:t>15/04/2025</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3078EA23-7685-43C5-92E4-E8AC6FB53CF0}" type="slidenum">
              <a:rPr lang="en-GB" smtClean="0"/>
              <a:t>‹#›</a:t>
            </a:fld>
            <a:endParaRPr lang="en-GB"/>
          </a:p>
        </p:txBody>
      </p:sp>
    </p:spTree>
    <p:extLst>
      <p:ext uri="{BB962C8B-B14F-4D97-AF65-F5344CB8AC3E}">
        <p14:creationId xmlns:p14="http://schemas.microsoft.com/office/powerpoint/2010/main" val="277629990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A578920-26F4-43E5-B1BE-61E1F8DA347E}" type="datetimeFigureOut">
              <a:rPr lang="en-GB" smtClean="0"/>
              <a:t>15/04/2025</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3078EA23-7685-43C5-92E4-E8AC6FB53CF0}" type="slidenum">
              <a:rPr lang="en-GB" smtClean="0"/>
              <a:t>‹#›</a:t>
            </a:fld>
            <a:endParaRPr lang="en-GB"/>
          </a:p>
        </p:txBody>
      </p:sp>
    </p:spTree>
    <p:extLst>
      <p:ext uri="{BB962C8B-B14F-4D97-AF65-F5344CB8AC3E}">
        <p14:creationId xmlns:p14="http://schemas.microsoft.com/office/powerpoint/2010/main" val="62770872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GB"/>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EA578920-26F4-43E5-B1BE-61E1F8DA347E}" type="datetimeFigureOut">
              <a:rPr lang="en-GB" smtClean="0"/>
              <a:t>15/04/2025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3078EA23-7685-43C5-92E4-E8AC6FB53CF0}" type="slidenum">
              <a:rPr lang="en-GB" smtClean="0"/>
              <a:t>‹#›</a:t>
            </a:fld>
            <a:endParaRPr lang="en-GB"/>
          </a:p>
        </p:txBody>
      </p:sp>
    </p:spTree>
    <p:extLst>
      <p:ext uri="{BB962C8B-B14F-4D97-AF65-F5344CB8AC3E}">
        <p14:creationId xmlns:p14="http://schemas.microsoft.com/office/powerpoint/2010/main" val="273786801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GB"/>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EA578920-26F4-43E5-B1BE-61E1F8DA347E}" type="datetimeFigureOut">
              <a:rPr lang="en-GB" smtClean="0"/>
              <a:t>15/04/2025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3078EA23-7685-43C5-92E4-E8AC6FB53CF0}" type="slidenum">
              <a:rPr lang="en-GB" smtClean="0"/>
              <a:t>‹#›</a:t>
            </a:fld>
            <a:endParaRPr lang="en-GB"/>
          </a:p>
        </p:txBody>
      </p:sp>
    </p:spTree>
    <p:extLst>
      <p:ext uri="{BB962C8B-B14F-4D97-AF65-F5344CB8AC3E}">
        <p14:creationId xmlns:p14="http://schemas.microsoft.com/office/powerpoint/2010/main" val="256886873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10"/>
          </p:nvPr>
        </p:nvSpPr>
        <p:spPr/>
        <p:txBody>
          <a:bodyPr/>
          <a:lstStyle/>
          <a:p>
            <a:fld id="{EA578920-26F4-43E5-B1BE-61E1F8DA347E}" type="datetimeFigureOut">
              <a:rPr lang="en-GB" smtClean="0"/>
              <a:t>15/04/2025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078EA23-7685-43C5-92E4-E8AC6FB53CF0}" type="slidenum">
              <a:rPr lang="en-GB" smtClean="0"/>
              <a:t>‹#›</a:t>
            </a:fld>
            <a:endParaRPr lang="en-GB"/>
          </a:p>
        </p:txBody>
      </p:sp>
    </p:spTree>
    <p:extLst>
      <p:ext uri="{BB962C8B-B14F-4D97-AF65-F5344CB8AC3E}">
        <p14:creationId xmlns:p14="http://schemas.microsoft.com/office/powerpoint/2010/main" val="271335036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GB"/>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10"/>
          </p:nvPr>
        </p:nvSpPr>
        <p:spPr/>
        <p:txBody>
          <a:bodyPr/>
          <a:lstStyle/>
          <a:p>
            <a:fld id="{EA578920-26F4-43E5-B1BE-61E1F8DA347E}" type="datetimeFigureOut">
              <a:rPr lang="en-GB" smtClean="0"/>
              <a:t>15/04/2025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078EA23-7685-43C5-92E4-E8AC6FB53CF0}" type="slidenum">
              <a:rPr lang="en-GB" smtClean="0"/>
              <a:t>‹#›</a:t>
            </a:fld>
            <a:endParaRPr lang="en-GB"/>
          </a:p>
        </p:txBody>
      </p:sp>
    </p:spTree>
    <p:extLst>
      <p:ext uri="{BB962C8B-B14F-4D97-AF65-F5344CB8AC3E}">
        <p14:creationId xmlns:p14="http://schemas.microsoft.com/office/powerpoint/2010/main" val="51095239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D1A6E6-075E-4828-AF88-09BD0A74259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5F3800DB-487B-4E23-AC0B-90C9ED4E107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664DF5B1-3694-42A9-866E-9F1FF6CF0C01}"/>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EED1C14C-A143-42F5-B247-D0E800131009}" type="datetimeFigureOut">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4/15/2025</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5" name="Footer Placeholder 4">
            <a:extLst>
              <a:ext uri="{FF2B5EF4-FFF2-40B4-BE49-F238E27FC236}">
                <a16:creationId xmlns:a16="http://schemas.microsoft.com/office/drawing/2014/main" id="{54718E67-8162-4BE0-9B01-22B89A120ADC}"/>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6" name="Slide Number Placeholder 5">
            <a:extLst>
              <a:ext uri="{FF2B5EF4-FFF2-40B4-BE49-F238E27FC236}">
                <a16:creationId xmlns:a16="http://schemas.microsoft.com/office/drawing/2014/main" id="{91568B9D-A8C9-40C5-85B0-14F435F39C81}"/>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B03D32D-F1BC-4E9C-97E1-36CFF5B22341}"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79011485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34D5D7-9AEB-44F2-8A04-0694BE1520D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3CE933F-693D-4770-8DC4-A5A086AC8ACE}"/>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2A7849A-1CE6-4F5C-95D7-EA8DA5EE5551}"/>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EED1C14C-A143-42F5-B247-D0E800131009}" type="datetimeFigureOut">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4/15/2025</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5" name="Footer Placeholder 4">
            <a:extLst>
              <a:ext uri="{FF2B5EF4-FFF2-40B4-BE49-F238E27FC236}">
                <a16:creationId xmlns:a16="http://schemas.microsoft.com/office/drawing/2014/main" id="{39FE1FD0-B95E-4CF6-9A27-0F91F96DAE00}"/>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6" name="Slide Number Placeholder 5">
            <a:extLst>
              <a:ext uri="{FF2B5EF4-FFF2-40B4-BE49-F238E27FC236}">
                <a16:creationId xmlns:a16="http://schemas.microsoft.com/office/drawing/2014/main" id="{596123BE-5891-49D6-A758-867A98F38D77}"/>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B03D32D-F1BC-4E9C-97E1-36CFF5B22341}"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70993534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A85FC7-1BEA-438E-A0A7-88FF5511227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0BD5F5C0-417B-4A28-8AE9-A79AC74A625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34BC6257-C490-4059-9E97-16E46673C65A}"/>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EED1C14C-A143-42F5-B247-D0E800131009}" type="datetimeFigureOut">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4/15/2025</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5" name="Footer Placeholder 4">
            <a:extLst>
              <a:ext uri="{FF2B5EF4-FFF2-40B4-BE49-F238E27FC236}">
                <a16:creationId xmlns:a16="http://schemas.microsoft.com/office/drawing/2014/main" id="{7A4051CD-74EC-43C1-9F21-D33BD297FC2D}"/>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6" name="Slide Number Placeholder 5">
            <a:extLst>
              <a:ext uri="{FF2B5EF4-FFF2-40B4-BE49-F238E27FC236}">
                <a16:creationId xmlns:a16="http://schemas.microsoft.com/office/drawing/2014/main" id="{8BC95141-29DC-41BA-BE25-E899055F3178}"/>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B03D32D-F1BC-4E9C-97E1-36CFF5B22341}"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16547710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34FC21-AE04-4050-80E6-D9DCA4B50C9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1885F7E-EF45-48F7-9E54-C6806D0E9638}"/>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724501F-6ED5-4112-B037-D3E9F8CF2C81}"/>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861E48C-176E-4E60-8CB3-5425169963CD}"/>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EED1C14C-A143-42F5-B247-D0E800131009}" type="datetimeFigureOut">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4/15/2025</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6" name="Footer Placeholder 5">
            <a:extLst>
              <a:ext uri="{FF2B5EF4-FFF2-40B4-BE49-F238E27FC236}">
                <a16:creationId xmlns:a16="http://schemas.microsoft.com/office/drawing/2014/main" id="{5852202B-C929-4B39-AF47-D17C38F868E8}"/>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7" name="Slide Number Placeholder 6">
            <a:extLst>
              <a:ext uri="{FF2B5EF4-FFF2-40B4-BE49-F238E27FC236}">
                <a16:creationId xmlns:a16="http://schemas.microsoft.com/office/drawing/2014/main" id="{7DEEEBF3-930A-4A23-810D-C1880E7A6D29}"/>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B03D32D-F1BC-4E9C-97E1-36CFF5B22341}"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54112064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448E08-A828-430D-B8A6-7302E570AD2B}"/>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71FF5402-465C-4E68-BF7E-BFE1177B55A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469B917D-5EC9-44FC-B8A7-9ADF4ADC4FAB}"/>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43DCF5D4-E55C-42FF-A7E5-2466DE35B8C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B7579A7F-77F4-4169-8D51-212344199842}"/>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2A735923-3BB5-4F33-8E76-56665E95B55A}"/>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EED1C14C-A143-42F5-B247-D0E800131009}" type="datetimeFigureOut">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4/15/2025</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8" name="Footer Placeholder 7">
            <a:extLst>
              <a:ext uri="{FF2B5EF4-FFF2-40B4-BE49-F238E27FC236}">
                <a16:creationId xmlns:a16="http://schemas.microsoft.com/office/drawing/2014/main" id="{FA43FC79-7089-4373-88DC-12501E78201F}"/>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9" name="Slide Number Placeholder 8">
            <a:extLst>
              <a:ext uri="{FF2B5EF4-FFF2-40B4-BE49-F238E27FC236}">
                <a16:creationId xmlns:a16="http://schemas.microsoft.com/office/drawing/2014/main" id="{B4E0BEB1-B009-47B7-B159-DE05E615E710}"/>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B03D32D-F1BC-4E9C-97E1-36CFF5B22341}"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77779398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65FFCC-78CC-4E9D-A277-8230F27334A9}"/>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744CEFE7-D923-48C1-B2FE-8110829C69E3}"/>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EED1C14C-A143-42F5-B247-D0E800131009}" type="datetimeFigureOut">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4/15/2025</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4" name="Footer Placeholder 3">
            <a:extLst>
              <a:ext uri="{FF2B5EF4-FFF2-40B4-BE49-F238E27FC236}">
                <a16:creationId xmlns:a16="http://schemas.microsoft.com/office/drawing/2014/main" id="{A68F91C9-7841-4F7B-8F24-B5FF45B5B391}"/>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5" name="Slide Number Placeholder 4">
            <a:extLst>
              <a:ext uri="{FF2B5EF4-FFF2-40B4-BE49-F238E27FC236}">
                <a16:creationId xmlns:a16="http://schemas.microsoft.com/office/drawing/2014/main" id="{B8896739-CF17-4867-A5ED-317AD19F5A3B}"/>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B03D32D-F1BC-4E9C-97E1-36CFF5B22341}"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10022703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4E8942B-5ECF-4556-91C2-496E4C52EF8A}"/>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EED1C14C-A143-42F5-B247-D0E800131009}" type="datetimeFigureOut">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4/15/2025</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3" name="Footer Placeholder 2">
            <a:extLst>
              <a:ext uri="{FF2B5EF4-FFF2-40B4-BE49-F238E27FC236}">
                <a16:creationId xmlns:a16="http://schemas.microsoft.com/office/drawing/2014/main" id="{3E1589EF-E9AD-45F7-BFBE-6F8AD3570337}"/>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4" name="Slide Number Placeholder 3">
            <a:extLst>
              <a:ext uri="{FF2B5EF4-FFF2-40B4-BE49-F238E27FC236}">
                <a16:creationId xmlns:a16="http://schemas.microsoft.com/office/drawing/2014/main" id="{6E18E0FA-5424-403C-8462-1B7C301C65D8}"/>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B03D32D-F1BC-4E9C-97E1-36CFF5B22341}"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01156205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B27A56-C315-441C-9002-DFD599AED26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C9F57D9A-8037-4B31-951B-4675ADA6939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2763141B-5121-4179-B3F6-52956912224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AA60C32E-3427-4696-A55A-56886EA24AEB}"/>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EED1C14C-A143-42F5-B247-D0E800131009}" type="datetimeFigureOut">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4/15/2025</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6" name="Footer Placeholder 5">
            <a:extLst>
              <a:ext uri="{FF2B5EF4-FFF2-40B4-BE49-F238E27FC236}">
                <a16:creationId xmlns:a16="http://schemas.microsoft.com/office/drawing/2014/main" id="{7DDFE526-7D20-4EC0-9624-E779812957B3}"/>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7" name="Slide Number Placeholder 6">
            <a:extLst>
              <a:ext uri="{FF2B5EF4-FFF2-40B4-BE49-F238E27FC236}">
                <a16:creationId xmlns:a16="http://schemas.microsoft.com/office/drawing/2014/main" id="{C7AA82D7-E462-4060-85D6-85CF55540155}"/>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B03D32D-F1BC-4E9C-97E1-36CFF5B22341}"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61825868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5E919B-BF68-4590-8CA9-A51BAC0F750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A04BC1AA-5C68-47DC-BBF0-1E309865E5A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0F81A636-7F9C-43EC-B2F2-6FB3323CB79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7D19410E-A050-4AA2-BC89-EF52EB1C34F6}"/>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EED1C14C-A143-42F5-B247-D0E800131009}" type="datetimeFigureOut">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4/15/2025</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6" name="Footer Placeholder 5">
            <a:extLst>
              <a:ext uri="{FF2B5EF4-FFF2-40B4-BE49-F238E27FC236}">
                <a16:creationId xmlns:a16="http://schemas.microsoft.com/office/drawing/2014/main" id="{B0C23AB0-18A5-4589-926D-C00F68CFEA43}"/>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7" name="Slide Number Placeholder 6">
            <a:extLst>
              <a:ext uri="{FF2B5EF4-FFF2-40B4-BE49-F238E27FC236}">
                <a16:creationId xmlns:a16="http://schemas.microsoft.com/office/drawing/2014/main" id="{8754EE52-EECA-4C6E-83E9-6382044D356C}"/>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B03D32D-F1BC-4E9C-97E1-36CFF5B22341}"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7040181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6536FE-B6CA-4D45-A719-6B51F3FF6D96}"/>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DFB9388C-63B0-4DA8-97D0-BEEDCF401CA2}"/>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ED9BDB0-2A2B-43AC-965A-A9E7E7F741CD}"/>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EED1C14C-A143-42F5-B247-D0E800131009}" type="datetimeFigureOut">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4/15/2025</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5" name="Footer Placeholder 4">
            <a:extLst>
              <a:ext uri="{FF2B5EF4-FFF2-40B4-BE49-F238E27FC236}">
                <a16:creationId xmlns:a16="http://schemas.microsoft.com/office/drawing/2014/main" id="{B67DA7C3-2A5B-4BED-A540-9136486CC5B6}"/>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6" name="Slide Number Placeholder 5">
            <a:extLst>
              <a:ext uri="{FF2B5EF4-FFF2-40B4-BE49-F238E27FC236}">
                <a16:creationId xmlns:a16="http://schemas.microsoft.com/office/drawing/2014/main" id="{835888E8-31D6-4E51-9228-0D6066FED555}"/>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B03D32D-F1BC-4E9C-97E1-36CFF5B22341}"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5131230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3D010CA-6776-433E-8E25-97899E08288F}"/>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06391E6E-3CF5-4535-B37E-E30058EA2848}"/>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A6ADEE3-AAA7-4846-8EC6-84B1537C1D74}"/>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EED1C14C-A143-42F5-B247-D0E800131009}" type="datetimeFigureOut">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4/15/2025</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5" name="Footer Placeholder 4">
            <a:extLst>
              <a:ext uri="{FF2B5EF4-FFF2-40B4-BE49-F238E27FC236}">
                <a16:creationId xmlns:a16="http://schemas.microsoft.com/office/drawing/2014/main" id="{001DABD6-6E60-4895-89B1-3604A484D2DD}"/>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6" name="Slide Number Placeholder 5">
            <a:extLst>
              <a:ext uri="{FF2B5EF4-FFF2-40B4-BE49-F238E27FC236}">
                <a16:creationId xmlns:a16="http://schemas.microsoft.com/office/drawing/2014/main" id="{59A4D314-6D1C-4A42-A445-B77646B2B295}"/>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B03D32D-F1BC-4E9C-97E1-36CFF5B22341}"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1125380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GB"/>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A578920-26F4-43E5-B1BE-61E1F8DA347E}" type="datetimeFigureOut">
              <a:rPr lang="en-GB" smtClean="0"/>
              <a:t>15/04/2025</a:t>
            </a:fld>
            <a:endParaRPr lang="en-GB"/>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078EA23-7685-43C5-92E4-E8AC6FB53CF0}" type="slidenum">
              <a:rPr lang="en-GB" smtClean="0"/>
              <a:t>‹#›</a:t>
            </a:fld>
            <a:endParaRPr lang="en-GB"/>
          </a:p>
        </p:txBody>
      </p:sp>
    </p:spTree>
    <p:extLst>
      <p:ext uri="{BB962C8B-B14F-4D97-AF65-F5344CB8AC3E}">
        <p14:creationId xmlns:p14="http://schemas.microsoft.com/office/powerpoint/2010/main" val="38657657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C3F6010-77C4-45FE-968C-712199A5851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B19B1B2C-5D5F-46D9-92F5-ECDF2816A1F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0334894-C6F5-46F1-BAA2-AFEA88E6816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EED1C14C-A143-42F5-B247-D0E800131009}" type="datetimeFigureOut">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4/15/2025</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5" name="Footer Placeholder 4">
            <a:extLst>
              <a:ext uri="{FF2B5EF4-FFF2-40B4-BE49-F238E27FC236}">
                <a16:creationId xmlns:a16="http://schemas.microsoft.com/office/drawing/2014/main" id="{975B1C84-4663-4022-BBEA-7667FEBCF3F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6" name="Slide Number Placeholder 5">
            <a:extLst>
              <a:ext uri="{FF2B5EF4-FFF2-40B4-BE49-F238E27FC236}">
                <a16:creationId xmlns:a16="http://schemas.microsoft.com/office/drawing/2014/main" id="{E72820DA-1F3A-421F-A770-A6347089E36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5B03D32D-F1BC-4E9C-97E1-36CFF5B22341}"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28358795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7.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7.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31.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3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13.xml"/></Relationships>
</file>

<file path=ppt/slides/_rels/slide35.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GB" b="1" dirty="0" smtClean="0">
                <a:latin typeface="+mn-lt"/>
              </a:rPr>
              <a:t>Data Analytics Portfolio</a:t>
            </a:r>
            <a:endParaRPr lang="en-GB" b="1" dirty="0">
              <a:latin typeface="+mn-lt"/>
            </a:endParaRPr>
          </a:p>
        </p:txBody>
      </p:sp>
      <p:sp>
        <p:nvSpPr>
          <p:cNvPr id="3" name="Subtitle 2"/>
          <p:cNvSpPr>
            <a:spLocks noGrp="1"/>
          </p:cNvSpPr>
          <p:nvPr>
            <p:ph type="subTitle" idx="1"/>
          </p:nvPr>
        </p:nvSpPr>
        <p:spPr>
          <a:xfrm>
            <a:off x="1524000" y="3602037"/>
            <a:ext cx="10810672" cy="2380473"/>
          </a:xfrm>
        </p:spPr>
        <p:txBody>
          <a:bodyPr/>
          <a:lstStyle/>
          <a:p>
            <a:r>
              <a:rPr lang="en-GB" b="1" dirty="0" smtClean="0"/>
              <a:t>Presented by </a:t>
            </a:r>
          </a:p>
          <a:p>
            <a:endParaRPr lang="en-GB" b="1" dirty="0"/>
          </a:p>
          <a:p>
            <a:r>
              <a:rPr lang="en-GB" b="1" dirty="0" smtClean="0"/>
              <a:t>Gerald Fongha</a:t>
            </a:r>
          </a:p>
          <a:p>
            <a:r>
              <a:rPr lang="en-GB" b="1" dirty="0" smtClean="0"/>
              <a:t>March 2025</a:t>
            </a:r>
          </a:p>
          <a:p>
            <a:endParaRPr lang="en-GB" dirty="0" smtClean="0"/>
          </a:p>
          <a:p>
            <a:endParaRPr lang="en-GB" dirty="0"/>
          </a:p>
        </p:txBody>
      </p:sp>
    </p:spTree>
    <p:extLst>
      <p:ext uri="{BB962C8B-B14F-4D97-AF65-F5344CB8AC3E}">
        <p14:creationId xmlns:p14="http://schemas.microsoft.com/office/powerpoint/2010/main" val="3041551188"/>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0" y="1"/>
            <a:ext cx="7431932" cy="6857999"/>
          </a:xfrm>
          <a:prstGeom prst="rect">
            <a:avLst/>
          </a:prstGeom>
        </p:spPr>
      </p:pic>
      <p:sp>
        <p:nvSpPr>
          <p:cNvPr id="3" name="Rectangle 2"/>
          <p:cNvSpPr/>
          <p:nvPr/>
        </p:nvSpPr>
        <p:spPr>
          <a:xfrm>
            <a:off x="7551906" y="2684835"/>
            <a:ext cx="4672519" cy="1938992"/>
          </a:xfrm>
          <a:prstGeom prst="rect">
            <a:avLst/>
          </a:prstGeom>
        </p:spPr>
        <p:txBody>
          <a:bodyPr wrap="square">
            <a:spAutoFit/>
          </a:bodyPr>
          <a:lstStyle/>
          <a:p>
            <a:r>
              <a:rPr lang="en-US" sz="2400" b="1" dirty="0" smtClean="0"/>
              <a:t>Title: </a:t>
            </a:r>
            <a:r>
              <a:rPr lang="en-US" sz="2400" b="1" i="1" dirty="0" smtClean="0"/>
              <a:t>"Crash Severity Analysis: Understanding the Impact of Road Accidents.“</a:t>
            </a:r>
          </a:p>
          <a:p>
            <a:endParaRPr lang="en-US" sz="2400" b="1" i="1" dirty="0"/>
          </a:p>
          <a:p>
            <a:endParaRPr lang="en-GB" sz="2400" i="1" dirty="0"/>
          </a:p>
        </p:txBody>
      </p:sp>
    </p:spTree>
    <p:extLst>
      <p:ext uri="{BB962C8B-B14F-4D97-AF65-F5344CB8AC3E}">
        <p14:creationId xmlns:p14="http://schemas.microsoft.com/office/powerpoint/2010/main" val="396427061"/>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126460" y="107004"/>
            <a:ext cx="11848289" cy="6750995"/>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lvl="0">
              <a:lnSpc>
                <a:spcPct val="150000"/>
              </a:lnSpc>
            </a:pPr>
            <a:r>
              <a:rPr lang="en-US" sz="2000" b="1" dirty="0">
                <a:solidFill>
                  <a:prstClr val="black"/>
                </a:solidFill>
              </a:rPr>
              <a:t>Aims: </a:t>
            </a:r>
            <a:endParaRPr lang="en-US" sz="2000" b="1" dirty="0" smtClean="0">
              <a:solidFill>
                <a:prstClr val="black"/>
              </a:solidFill>
            </a:endParaRPr>
          </a:p>
          <a:p>
            <a:pPr lvl="0">
              <a:lnSpc>
                <a:spcPct val="150000"/>
              </a:lnSpc>
            </a:pPr>
            <a:r>
              <a:rPr lang="en-US" sz="2000" b="1" dirty="0" smtClean="0">
                <a:solidFill>
                  <a:prstClr val="black"/>
                </a:solidFill>
              </a:rPr>
              <a:t>Showcase </a:t>
            </a:r>
            <a:r>
              <a:rPr lang="en-US" sz="2000" b="1" dirty="0">
                <a:solidFill>
                  <a:prstClr val="black"/>
                </a:solidFill>
              </a:rPr>
              <a:t>Data Analytics Skills</a:t>
            </a:r>
            <a:endParaRPr lang="en-US" sz="2000" dirty="0">
              <a:solidFill>
                <a:prstClr val="black"/>
              </a:solidFill>
            </a:endParaRPr>
          </a:p>
          <a:p>
            <a:pPr lvl="0">
              <a:lnSpc>
                <a:spcPct val="150000"/>
              </a:lnSpc>
              <a:buFont typeface="Arial" panose="020B0604020202020204" pitchFamily="34" charset="0"/>
              <a:buChar char="•"/>
            </a:pPr>
            <a:r>
              <a:rPr lang="en-US" dirty="0">
                <a:solidFill>
                  <a:prstClr val="black"/>
                </a:solidFill>
              </a:rPr>
              <a:t>Demonstrate data cleaning, exploration, and visualization techniques.</a:t>
            </a:r>
          </a:p>
          <a:p>
            <a:pPr lvl="0">
              <a:lnSpc>
                <a:spcPct val="150000"/>
              </a:lnSpc>
              <a:buFont typeface="Arial" panose="020B0604020202020204" pitchFamily="34" charset="0"/>
              <a:buChar char="•"/>
            </a:pPr>
            <a:r>
              <a:rPr lang="en-US" dirty="0">
                <a:solidFill>
                  <a:prstClr val="black"/>
                </a:solidFill>
              </a:rPr>
              <a:t>Apply statistical and machine learning models (if applicable) to predict crash severity.</a:t>
            </a:r>
          </a:p>
          <a:p>
            <a:pPr lvl="0">
              <a:lnSpc>
                <a:spcPct val="150000"/>
              </a:lnSpc>
              <a:buFont typeface="Arial" panose="020B0604020202020204" pitchFamily="34" charset="0"/>
              <a:buChar char="•"/>
            </a:pPr>
            <a:r>
              <a:rPr lang="en-US" dirty="0">
                <a:solidFill>
                  <a:prstClr val="black"/>
                </a:solidFill>
              </a:rPr>
              <a:t>Present findings in a structured and compelling way, useful for stakeholders in transportation and public safety.</a:t>
            </a:r>
          </a:p>
          <a:p>
            <a:pPr lvl="0">
              <a:lnSpc>
                <a:spcPct val="150000"/>
              </a:lnSpc>
              <a:buFont typeface="Arial" panose="020B0604020202020204" pitchFamily="34" charset="0"/>
              <a:buChar char="•"/>
            </a:pPr>
            <a:r>
              <a:rPr lang="en-US" dirty="0">
                <a:solidFill>
                  <a:prstClr val="black"/>
                </a:solidFill>
              </a:rPr>
              <a:t>Visualize Data for Decision-Making by Presenting clear and insightful visualizations (charts and graphs) to communicate findings.</a:t>
            </a:r>
          </a:p>
          <a:p>
            <a:pPr lvl="0">
              <a:lnSpc>
                <a:spcPct val="150000"/>
              </a:lnSpc>
              <a:buFont typeface="Arial" panose="020B0604020202020204" pitchFamily="34" charset="0"/>
              <a:buChar char="•"/>
            </a:pPr>
            <a:r>
              <a:rPr lang="en-US" dirty="0">
                <a:solidFill>
                  <a:prstClr val="black"/>
                </a:solidFill>
              </a:rPr>
              <a:t>Provide a data-driven approach to understanding accident severity and its impact</a:t>
            </a:r>
            <a:r>
              <a:rPr lang="en-US" dirty="0" smtClean="0">
                <a:solidFill>
                  <a:prstClr val="black"/>
                </a:solidFill>
              </a:rPr>
              <a:t>.</a:t>
            </a:r>
            <a:endParaRPr lang="en-US" dirty="0">
              <a:solidFill>
                <a:prstClr val="black"/>
              </a:solidFill>
            </a:endParaRPr>
          </a:p>
          <a:p>
            <a:pPr lvl="0">
              <a:lnSpc>
                <a:spcPct val="150000"/>
              </a:lnSpc>
              <a:buFont typeface="Arial" panose="020B0604020202020204" pitchFamily="34" charset="0"/>
              <a:buChar char="•"/>
            </a:pPr>
            <a:r>
              <a:rPr lang="en-US" sz="2000" b="1" dirty="0" smtClean="0">
                <a:solidFill>
                  <a:prstClr val="black"/>
                </a:solidFill>
              </a:rPr>
              <a:t>Software Tools and Technologies</a:t>
            </a:r>
            <a:endParaRPr lang="en-US" sz="2000" b="1" dirty="0">
              <a:solidFill>
                <a:prstClr val="black"/>
              </a:solidFill>
            </a:endParaRPr>
          </a:p>
          <a:p>
            <a:pPr lvl="0">
              <a:lnSpc>
                <a:spcPct val="150000"/>
              </a:lnSpc>
              <a:buFont typeface="Arial" panose="020B0604020202020204" pitchFamily="34" charset="0"/>
              <a:buChar char="•"/>
            </a:pPr>
            <a:r>
              <a:rPr lang="en-US" dirty="0">
                <a:solidFill>
                  <a:prstClr val="black"/>
                </a:solidFill>
              </a:rPr>
              <a:t>Visual Studio </a:t>
            </a:r>
            <a:r>
              <a:rPr lang="en-US" dirty="0" smtClean="0">
                <a:solidFill>
                  <a:prstClr val="black"/>
                </a:solidFill>
              </a:rPr>
              <a:t>Code (Integrated Development Environment)</a:t>
            </a:r>
            <a:endParaRPr lang="en-US" dirty="0">
              <a:solidFill>
                <a:prstClr val="black"/>
              </a:solidFill>
            </a:endParaRPr>
          </a:p>
          <a:p>
            <a:pPr lvl="0">
              <a:lnSpc>
                <a:spcPct val="150000"/>
              </a:lnSpc>
              <a:buFont typeface="Arial" panose="020B0604020202020204" pitchFamily="34" charset="0"/>
              <a:buChar char="•"/>
            </a:pPr>
            <a:r>
              <a:rPr lang="en-US" dirty="0">
                <a:solidFill>
                  <a:prstClr val="black"/>
                </a:solidFill>
              </a:rPr>
              <a:t>Python Programming </a:t>
            </a:r>
            <a:r>
              <a:rPr lang="en-US" dirty="0" smtClean="0">
                <a:solidFill>
                  <a:prstClr val="black"/>
                </a:solidFill>
              </a:rPr>
              <a:t>Language and  </a:t>
            </a:r>
            <a:r>
              <a:rPr lang="en-US" dirty="0">
                <a:solidFill>
                  <a:prstClr val="black"/>
                </a:solidFill>
              </a:rPr>
              <a:t>Libraries (Pandas, </a:t>
            </a:r>
            <a:r>
              <a:rPr lang="en-US" dirty="0" err="1">
                <a:solidFill>
                  <a:prstClr val="black"/>
                </a:solidFill>
              </a:rPr>
              <a:t>Numpy</a:t>
            </a:r>
            <a:r>
              <a:rPr lang="en-US" dirty="0">
                <a:solidFill>
                  <a:prstClr val="black"/>
                </a:solidFill>
              </a:rPr>
              <a:t>, </a:t>
            </a:r>
            <a:r>
              <a:rPr lang="en-US" dirty="0" err="1">
                <a:solidFill>
                  <a:prstClr val="black"/>
                </a:solidFill>
              </a:rPr>
              <a:t>Matplotlib</a:t>
            </a:r>
            <a:r>
              <a:rPr lang="en-US" dirty="0">
                <a:solidFill>
                  <a:prstClr val="black"/>
                </a:solidFill>
              </a:rPr>
              <a:t>, </a:t>
            </a:r>
            <a:r>
              <a:rPr lang="en-US" dirty="0" err="1">
                <a:solidFill>
                  <a:prstClr val="black"/>
                </a:solidFill>
              </a:rPr>
              <a:t>Seaborn</a:t>
            </a:r>
            <a:r>
              <a:rPr lang="en-US" dirty="0">
                <a:solidFill>
                  <a:prstClr val="black"/>
                </a:solidFill>
              </a:rPr>
              <a:t>, </a:t>
            </a:r>
            <a:r>
              <a:rPr lang="en-US" dirty="0" err="1">
                <a:solidFill>
                  <a:prstClr val="black"/>
                </a:solidFill>
              </a:rPr>
              <a:t>Sklearn</a:t>
            </a:r>
            <a:r>
              <a:rPr lang="en-US" dirty="0" smtClean="0">
                <a:solidFill>
                  <a:prstClr val="black"/>
                </a:solidFill>
              </a:rPr>
              <a:t>) for Data Cleaning, Processing, Data </a:t>
            </a:r>
            <a:r>
              <a:rPr lang="en-US" dirty="0" err="1" smtClean="0">
                <a:solidFill>
                  <a:prstClr val="black"/>
                </a:solidFill>
              </a:rPr>
              <a:t>Visualisation</a:t>
            </a:r>
            <a:r>
              <a:rPr lang="en-US" dirty="0" smtClean="0">
                <a:solidFill>
                  <a:prstClr val="black"/>
                </a:solidFill>
              </a:rPr>
              <a:t>, Statistical Analysis and Machine Learning.</a:t>
            </a:r>
          </a:p>
          <a:p>
            <a:pPr lvl="0">
              <a:lnSpc>
                <a:spcPct val="150000"/>
              </a:lnSpc>
              <a:buFont typeface="Arial" panose="020B0604020202020204" pitchFamily="34" charset="0"/>
              <a:buChar char="•"/>
            </a:pPr>
            <a:r>
              <a:rPr lang="en-US" dirty="0" err="1" smtClean="0">
                <a:solidFill>
                  <a:prstClr val="black"/>
                </a:solidFill>
              </a:rPr>
              <a:t>Jupyter</a:t>
            </a:r>
            <a:r>
              <a:rPr lang="en-US" dirty="0" smtClean="0">
                <a:solidFill>
                  <a:prstClr val="black"/>
                </a:solidFill>
              </a:rPr>
              <a:t> Note Book</a:t>
            </a:r>
          </a:p>
          <a:p>
            <a:pPr lvl="0">
              <a:lnSpc>
                <a:spcPct val="150000"/>
              </a:lnSpc>
              <a:buFont typeface="Arial" panose="020B0604020202020204" pitchFamily="34" charset="0"/>
              <a:buChar char="•"/>
            </a:pPr>
            <a:r>
              <a:rPr lang="en-US" dirty="0" smtClean="0">
                <a:solidFill>
                  <a:prstClr val="black"/>
                </a:solidFill>
              </a:rPr>
              <a:t>Microsoft Power Point</a:t>
            </a:r>
            <a:endParaRPr lang="en-US" dirty="0">
              <a:solidFill>
                <a:prstClr val="black"/>
              </a:solidFill>
            </a:endParaRPr>
          </a:p>
          <a:p>
            <a:pPr lvl="0">
              <a:lnSpc>
                <a:spcPct val="150000"/>
              </a:lnSpc>
              <a:buFont typeface="Arial" panose="020B0604020202020204" pitchFamily="34" charset="0"/>
              <a:buChar char="•"/>
            </a:pPr>
            <a:r>
              <a:rPr lang="en-US" sz="2000" b="1" dirty="0" err="1">
                <a:solidFill>
                  <a:prstClr val="black"/>
                </a:solidFill>
              </a:rPr>
              <a:t>Visualisations</a:t>
            </a:r>
            <a:r>
              <a:rPr lang="en-US" sz="2000" b="1" dirty="0">
                <a:solidFill>
                  <a:prstClr val="black"/>
                </a:solidFill>
              </a:rPr>
              <a:t>.</a:t>
            </a:r>
          </a:p>
          <a:p>
            <a:pPr lvl="0">
              <a:lnSpc>
                <a:spcPct val="150000"/>
              </a:lnSpc>
              <a:buFont typeface="Arial" panose="020B0604020202020204" pitchFamily="34" charset="0"/>
              <a:buChar char="•"/>
            </a:pPr>
            <a:r>
              <a:rPr lang="en-US" dirty="0">
                <a:solidFill>
                  <a:prstClr val="black"/>
                </a:solidFill>
              </a:rPr>
              <a:t> Bar </a:t>
            </a:r>
            <a:r>
              <a:rPr lang="en-US" dirty="0" smtClean="0">
                <a:solidFill>
                  <a:prstClr val="black"/>
                </a:solidFill>
              </a:rPr>
              <a:t>Charts</a:t>
            </a:r>
            <a:endParaRPr lang="en-US" dirty="0">
              <a:solidFill>
                <a:prstClr val="black"/>
              </a:solidFill>
            </a:endParaRPr>
          </a:p>
        </p:txBody>
      </p:sp>
    </p:spTree>
    <p:extLst>
      <p:ext uri="{BB962C8B-B14F-4D97-AF65-F5344CB8AC3E}">
        <p14:creationId xmlns:p14="http://schemas.microsoft.com/office/powerpoint/2010/main" val="309200387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91440" y="227383"/>
            <a:ext cx="11865556" cy="6140142"/>
          </a:xfrm>
          <a:prstGeom prst="rect">
            <a:avLst/>
          </a:prstGeom>
        </p:spPr>
        <p:txBody>
          <a:bodyPr wrap="square">
            <a:spAutoFit/>
          </a:bodyPr>
          <a:lstStyle/>
          <a:p>
            <a:r>
              <a:rPr lang="en-US" sz="2400" b="1" dirty="0" smtClean="0"/>
              <a:t>Project Background</a:t>
            </a:r>
          </a:p>
          <a:p>
            <a:pPr>
              <a:lnSpc>
                <a:spcPct val="150000"/>
              </a:lnSpc>
            </a:pPr>
            <a:r>
              <a:rPr lang="en-US" dirty="0" smtClean="0"/>
              <a:t>Road accidents are a major public safety concern, often leading to loss of life, injuries, and financial burdens. Understanding crash severity and its influencing factors is crucial for improving road safety policies, vehicle design, and driver awareness. This project analyzes automobile crash data to uncover patterns in crash severity based on vehicle attributes, driver demographics, environmental conditions, and road surface factors. By leveraging data analytics, this study aims to provide insights that can help policymakers, automotive manufacturers, and insurance companies implement better safety measures.</a:t>
            </a:r>
          </a:p>
          <a:p>
            <a:pPr>
              <a:lnSpc>
                <a:spcPct val="150000"/>
              </a:lnSpc>
            </a:pPr>
            <a:endParaRPr lang="en-US" b="1" dirty="0"/>
          </a:p>
          <a:p>
            <a:pPr>
              <a:lnSpc>
                <a:spcPct val="150000"/>
              </a:lnSpc>
            </a:pPr>
            <a:r>
              <a:rPr lang="en-US" b="1" dirty="0" smtClean="0"/>
              <a:t>Business </a:t>
            </a:r>
            <a:r>
              <a:rPr lang="en-US" b="1" dirty="0"/>
              <a:t>&amp; Policy Implications</a:t>
            </a:r>
            <a:endParaRPr lang="en-US" dirty="0"/>
          </a:p>
          <a:p>
            <a:pPr marL="742950" lvl="1" indent="-285750">
              <a:lnSpc>
                <a:spcPct val="150000"/>
              </a:lnSpc>
              <a:buFont typeface="Arial" panose="020B0604020202020204" pitchFamily="34" charset="0"/>
              <a:buChar char="•"/>
            </a:pPr>
            <a:r>
              <a:rPr lang="en-US" dirty="0"/>
              <a:t>How can insurance companies use crash severity insights to adjust premiums?</a:t>
            </a:r>
          </a:p>
          <a:p>
            <a:pPr marL="742950" lvl="1" indent="-285750">
              <a:lnSpc>
                <a:spcPct val="150000"/>
              </a:lnSpc>
              <a:buFont typeface="Arial" panose="020B0604020202020204" pitchFamily="34" charset="0"/>
              <a:buChar char="•"/>
            </a:pPr>
            <a:r>
              <a:rPr lang="en-US" dirty="0"/>
              <a:t>What safety measures can be recommended to reduce high-risk crashes?</a:t>
            </a:r>
          </a:p>
          <a:p>
            <a:pPr marL="742950" lvl="1" indent="-285750">
              <a:lnSpc>
                <a:spcPct val="150000"/>
              </a:lnSpc>
              <a:buFont typeface="Arial" panose="020B0604020202020204" pitchFamily="34" charset="0"/>
              <a:buChar char="•"/>
            </a:pPr>
            <a:r>
              <a:rPr lang="en-US" dirty="0"/>
              <a:t>How can authorities improve road safety regulations based on data insights?</a:t>
            </a:r>
          </a:p>
          <a:p>
            <a:pPr>
              <a:lnSpc>
                <a:spcPct val="150000"/>
              </a:lnSpc>
            </a:pPr>
            <a:r>
              <a:rPr lang="en-US" dirty="0"/>
              <a:t>This study will use data visualizations, statistical analysis, and predictive modeling to provide actionable recommendations for reducing crash severity and improving road safety.</a:t>
            </a:r>
          </a:p>
          <a:p>
            <a:pPr>
              <a:lnSpc>
                <a:spcPct val="250000"/>
              </a:lnSpc>
            </a:pPr>
            <a:endParaRPr lang="en-GB" dirty="0"/>
          </a:p>
        </p:txBody>
      </p:sp>
    </p:spTree>
    <p:extLst>
      <p:ext uri="{BB962C8B-B14F-4D97-AF65-F5344CB8AC3E}">
        <p14:creationId xmlns:p14="http://schemas.microsoft.com/office/powerpoint/2010/main" val="264331985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54135" y="571500"/>
            <a:ext cx="11712101" cy="5355312"/>
          </a:xfrm>
          <a:prstGeom prst="rect">
            <a:avLst/>
          </a:prstGeom>
        </p:spPr>
        <p:txBody>
          <a:bodyPr wrap="square">
            <a:spAutoFit/>
          </a:bodyPr>
          <a:lstStyle/>
          <a:p>
            <a:pPr>
              <a:lnSpc>
                <a:spcPct val="150000"/>
              </a:lnSpc>
            </a:pPr>
            <a:r>
              <a:rPr lang="en-US" b="1" dirty="0" smtClean="0"/>
              <a:t>Project Requirements / Business Questions</a:t>
            </a:r>
          </a:p>
          <a:p>
            <a:pPr>
              <a:lnSpc>
                <a:spcPct val="200000"/>
              </a:lnSpc>
            </a:pPr>
            <a:r>
              <a:rPr lang="en-US" dirty="0" smtClean="0"/>
              <a:t>This project seeks to answer key business and safety-related questions, including:</a:t>
            </a:r>
          </a:p>
          <a:p>
            <a:pPr>
              <a:lnSpc>
                <a:spcPct val="200000"/>
              </a:lnSpc>
              <a:buFont typeface="+mj-lt"/>
              <a:buAutoNum type="arabicPeriod"/>
            </a:pPr>
            <a:r>
              <a:rPr lang="en-US" b="1" dirty="0" smtClean="0"/>
              <a:t> </a:t>
            </a:r>
            <a:r>
              <a:rPr lang="en-US" dirty="0" smtClean="0"/>
              <a:t>What is the relationship between driver age, vehicle age and crash severity?</a:t>
            </a:r>
          </a:p>
          <a:p>
            <a:pPr>
              <a:lnSpc>
                <a:spcPct val="200000"/>
              </a:lnSpc>
            </a:pPr>
            <a:r>
              <a:rPr lang="en-US" b="1" dirty="0" smtClean="0"/>
              <a:t>2. </a:t>
            </a:r>
            <a:r>
              <a:rPr lang="en-US" dirty="0" smtClean="0"/>
              <a:t>Which vehicle types and makes are associated with the highest crash severity?</a:t>
            </a:r>
          </a:p>
          <a:p>
            <a:pPr>
              <a:lnSpc>
                <a:spcPct val="200000"/>
              </a:lnSpc>
            </a:pPr>
            <a:r>
              <a:rPr lang="en-US" b="1" dirty="0" smtClean="0"/>
              <a:t>3. </a:t>
            </a:r>
            <a:r>
              <a:rPr lang="en-US" dirty="0" smtClean="0"/>
              <a:t>What is the trend of the number of crashes throughout the week and in the different times of the day ?</a:t>
            </a:r>
          </a:p>
          <a:p>
            <a:pPr>
              <a:lnSpc>
                <a:spcPct val="200000"/>
              </a:lnSpc>
            </a:pPr>
            <a:r>
              <a:rPr lang="en-US" b="1" dirty="0" smtClean="0"/>
              <a:t>4.</a:t>
            </a:r>
            <a:r>
              <a:rPr lang="en-US" dirty="0" smtClean="0">
                <a:solidFill>
                  <a:prstClr val="black"/>
                </a:solidFill>
              </a:rPr>
              <a:t>Which </a:t>
            </a:r>
            <a:r>
              <a:rPr lang="en-US" dirty="0">
                <a:solidFill>
                  <a:prstClr val="black"/>
                </a:solidFill>
              </a:rPr>
              <a:t>weather condition is associated with the highest number of automobile crashes</a:t>
            </a:r>
            <a:r>
              <a:rPr lang="en-US" dirty="0" smtClean="0">
                <a:solidFill>
                  <a:prstClr val="black"/>
                </a:solidFill>
              </a:rPr>
              <a:t>?</a:t>
            </a:r>
          </a:p>
          <a:p>
            <a:pPr>
              <a:lnSpc>
                <a:spcPct val="200000"/>
              </a:lnSpc>
            </a:pPr>
            <a:r>
              <a:rPr lang="en-US" b="1" dirty="0"/>
              <a:t>5. Hypothesis </a:t>
            </a:r>
            <a:r>
              <a:rPr lang="en-US" b="1" dirty="0" smtClean="0"/>
              <a:t>Test:</a:t>
            </a:r>
            <a:endParaRPr lang="en-US" b="1" dirty="0"/>
          </a:p>
          <a:p>
            <a:pPr>
              <a:lnSpc>
                <a:spcPct val="200000"/>
              </a:lnSpc>
            </a:pPr>
            <a:r>
              <a:rPr lang="en-US" dirty="0"/>
              <a:t>Older vehicles tend to have larger engine displacement compared to newer vehicles</a:t>
            </a:r>
            <a:endParaRPr lang="en-US" dirty="0" smtClean="0"/>
          </a:p>
          <a:p>
            <a:pPr>
              <a:lnSpc>
                <a:spcPct val="200000"/>
              </a:lnSpc>
            </a:pPr>
            <a:r>
              <a:rPr lang="en-US" b="1" dirty="0" smtClean="0"/>
              <a:t>6. Machine Learning Business Question.</a:t>
            </a:r>
            <a:r>
              <a:rPr lang="en-US" dirty="0" smtClean="0"/>
              <a:t> </a:t>
            </a:r>
            <a:r>
              <a:rPr lang="en-US" dirty="0"/>
              <a:t>W</a:t>
            </a:r>
            <a:r>
              <a:rPr lang="en-US" dirty="0" smtClean="0"/>
              <a:t>hich </a:t>
            </a:r>
            <a:r>
              <a:rPr lang="en-US" dirty="0"/>
              <a:t>top </a:t>
            </a:r>
            <a:r>
              <a:rPr lang="en-US" dirty="0" smtClean="0"/>
              <a:t>3 </a:t>
            </a:r>
            <a:r>
              <a:rPr lang="en-US" dirty="0"/>
              <a:t>features have the most impact on the crash severity?</a:t>
            </a:r>
          </a:p>
          <a:p>
            <a:pPr>
              <a:lnSpc>
                <a:spcPct val="150000"/>
              </a:lnSpc>
            </a:pPr>
            <a:endParaRPr lang="en-US" dirty="0" smtClean="0"/>
          </a:p>
        </p:txBody>
      </p:sp>
    </p:spTree>
    <p:extLst>
      <p:ext uri="{BB962C8B-B14F-4D97-AF65-F5344CB8AC3E}">
        <p14:creationId xmlns:p14="http://schemas.microsoft.com/office/powerpoint/2010/main" val="127696331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0515600" cy="514985"/>
          </a:xfrm>
        </p:spPr>
        <p:txBody>
          <a:bodyPr>
            <a:normAutofit/>
          </a:bodyPr>
          <a:lstStyle/>
          <a:p>
            <a:r>
              <a:rPr lang="en-GB" sz="2400" dirty="0" smtClean="0">
                <a:latin typeface="+mn-lt"/>
              </a:rPr>
              <a:t>Data Description (</a:t>
            </a:r>
            <a:r>
              <a:rPr lang="en-GB" sz="2400" dirty="0" err="1" smtClean="0">
                <a:latin typeface="+mn-lt"/>
              </a:rPr>
              <a:t>Automobile_crash_data</a:t>
            </a:r>
            <a:r>
              <a:rPr lang="en-GB" sz="2400" dirty="0" smtClean="0">
                <a:latin typeface="+mn-lt"/>
              </a:rPr>
              <a:t>)</a:t>
            </a:r>
            <a:endParaRPr lang="en-GB" sz="2400" dirty="0">
              <a:latin typeface="+mn-lt"/>
            </a:endParaRPr>
          </a:p>
        </p:txBody>
      </p:sp>
      <p:sp>
        <p:nvSpPr>
          <p:cNvPr id="3" name="Content Placeholder 2"/>
          <p:cNvSpPr>
            <a:spLocks noGrp="1"/>
          </p:cNvSpPr>
          <p:nvPr>
            <p:ph idx="1"/>
          </p:nvPr>
        </p:nvSpPr>
        <p:spPr>
          <a:xfrm>
            <a:off x="0" y="514986"/>
            <a:ext cx="12192000" cy="6137274"/>
          </a:xfrm>
        </p:spPr>
        <p:txBody>
          <a:bodyPr/>
          <a:lstStyle/>
          <a:p>
            <a:r>
              <a:rPr lang="en-GB" dirty="0" smtClean="0"/>
              <a:t>Automobile Dataset consist of Objects and Int64</a:t>
            </a:r>
          </a:p>
          <a:p>
            <a:r>
              <a:rPr lang="en-GB" dirty="0" err="1" smtClean="0"/>
              <a:t>Automobile.describe</a:t>
            </a:r>
            <a:endParaRPr lang="en-GB" dirty="0" smtClean="0"/>
          </a:p>
          <a:p>
            <a:endParaRPr lang="en-GB" dirty="0"/>
          </a:p>
        </p:txBody>
      </p:sp>
      <p:pic>
        <p:nvPicPr>
          <p:cNvPr id="4" name="Picture 3"/>
          <p:cNvPicPr>
            <a:picLocks noChangeAspect="1"/>
          </p:cNvPicPr>
          <p:nvPr/>
        </p:nvPicPr>
        <p:blipFill>
          <a:blip r:embed="rId2"/>
          <a:stretch>
            <a:fillRect/>
          </a:stretch>
        </p:blipFill>
        <p:spPr>
          <a:xfrm>
            <a:off x="0" y="1954529"/>
            <a:ext cx="5313680" cy="4210525"/>
          </a:xfrm>
          <a:prstGeom prst="rect">
            <a:avLst/>
          </a:prstGeom>
        </p:spPr>
      </p:pic>
      <p:pic>
        <p:nvPicPr>
          <p:cNvPr id="7" name="Picture 6"/>
          <p:cNvPicPr>
            <a:picLocks noChangeAspect="1"/>
          </p:cNvPicPr>
          <p:nvPr/>
        </p:nvPicPr>
        <p:blipFill>
          <a:blip r:embed="rId3"/>
          <a:stretch>
            <a:fillRect/>
          </a:stretch>
        </p:blipFill>
        <p:spPr>
          <a:xfrm>
            <a:off x="5447030" y="1954530"/>
            <a:ext cx="6611620" cy="4210525"/>
          </a:xfrm>
          <a:prstGeom prst="rect">
            <a:avLst/>
          </a:prstGeom>
        </p:spPr>
      </p:pic>
    </p:spTree>
    <p:extLst>
      <p:ext uri="{BB962C8B-B14F-4D97-AF65-F5344CB8AC3E}">
        <p14:creationId xmlns:p14="http://schemas.microsoft.com/office/powerpoint/2010/main" val="188653065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71500" y="137160"/>
            <a:ext cx="11178540" cy="640080"/>
          </a:xfrm>
          <a:prstGeom prst="rect">
            <a:avLst/>
          </a:prstGeom>
        </p:spPr>
        <p:style>
          <a:lnRef idx="2">
            <a:schemeClr val="accent5"/>
          </a:lnRef>
          <a:fillRef idx="1">
            <a:schemeClr val="lt1"/>
          </a:fillRef>
          <a:effectRef idx="0">
            <a:schemeClr val="accent5"/>
          </a:effectRef>
          <a:fontRef idx="minor">
            <a:schemeClr val="dk1"/>
          </a:fontRef>
        </p:style>
        <p:txBody>
          <a:bodyPr rtlCol="0" anchor="ctr"/>
          <a:lstStyle/>
          <a:p>
            <a:pPr algn="ctr"/>
            <a:r>
              <a:rPr lang="en-GB" dirty="0" smtClean="0"/>
              <a:t> </a:t>
            </a:r>
            <a:r>
              <a:rPr lang="en-GB" sz="2400" b="1" dirty="0" smtClean="0"/>
              <a:t>Data Cleaning and Preparation (Data Cleaning Pipeline) </a:t>
            </a:r>
            <a:endParaRPr lang="en-GB" sz="2400" b="1" dirty="0"/>
          </a:p>
        </p:txBody>
      </p:sp>
      <p:graphicFrame>
        <p:nvGraphicFramePr>
          <p:cNvPr id="3" name="Diagram 2"/>
          <p:cNvGraphicFramePr/>
          <p:nvPr>
            <p:extLst>
              <p:ext uri="{D42A27DB-BD31-4B8C-83A1-F6EECF244321}">
                <p14:modId xmlns:p14="http://schemas.microsoft.com/office/powerpoint/2010/main" val="3732241380"/>
              </p:ext>
            </p:extLst>
          </p:nvPr>
        </p:nvGraphicFramePr>
        <p:xfrm>
          <a:off x="4206240" y="1267883"/>
          <a:ext cx="7985760" cy="559011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Rounded Rectangle 3"/>
          <p:cNvSpPr/>
          <p:nvPr/>
        </p:nvSpPr>
        <p:spPr>
          <a:xfrm>
            <a:off x="320040" y="1520190"/>
            <a:ext cx="5166360" cy="2960370"/>
          </a:xfrm>
          <a:prstGeom prst="roundRect">
            <a:avLst/>
          </a:prstGeom>
        </p:spPr>
        <p:style>
          <a:lnRef idx="2">
            <a:schemeClr val="accent5"/>
          </a:lnRef>
          <a:fillRef idx="1">
            <a:schemeClr val="lt1"/>
          </a:fillRef>
          <a:effectRef idx="0">
            <a:schemeClr val="accent5"/>
          </a:effectRef>
          <a:fontRef idx="minor">
            <a:schemeClr val="dk1"/>
          </a:fontRef>
        </p:style>
        <p:txBody>
          <a:bodyPr rtlCol="0" anchor="ctr"/>
          <a:lstStyle/>
          <a:p>
            <a:pPr algn="ctr"/>
            <a:r>
              <a:rPr lang="en-GB" dirty="0" smtClean="0"/>
              <a:t>To answer business questions, extract useful insights, perform data analytics and machine learning we need to clean the data using the data cleaning pipeline</a:t>
            </a:r>
            <a:endParaRPr lang="en-GB" dirty="0"/>
          </a:p>
        </p:txBody>
      </p:sp>
    </p:spTree>
    <p:extLst>
      <p:ext uri="{BB962C8B-B14F-4D97-AF65-F5344CB8AC3E}">
        <p14:creationId xmlns:p14="http://schemas.microsoft.com/office/powerpoint/2010/main" val="79665121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606425"/>
          </a:xfrm>
        </p:spPr>
        <p:txBody>
          <a:bodyPr>
            <a:normAutofit fontScale="90000"/>
          </a:bodyPr>
          <a:lstStyle/>
          <a:p>
            <a:r>
              <a:rPr lang="en-GB" dirty="0" smtClean="0"/>
              <a:t>Data Cleaning pipeline Automated</a:t>
            </a:r>
            <a:endParaRPr lang="en-GB" dirty="0"/>
          </a:p>
        </p:txBody>
      </p:sp>
      <p:pic>
        <p:nvPicPr>
          <p:cNvPr id="4" name="Content Placeholder 3"/>
          <p:cNvPicPr>
            <a:picLocks noGrp="1" noChangeAspect="1"/>
          </p:cNvPicPr>
          <p:nvPr>
            <p:ph idx="1"/>
          </p:nvPr>
        </p:nvPicPr>
        <p:blipFill>
          <a:blip r:embed="rId2"/>
          <a:stretch>
            <a:fillRect/>
          </a:stretch>
        </p:blipFill>
        <p:spPr>
          <a:xfrm>
            <a:off x="1783080" y="1037382"/>
            <a:ext cx="7075170" cy="5820618"/>
          </a:xfrm>
          <a:prstGeom prst="rect">
            <a:avLst/>
          </a:prstGeom>
        </p:spPr>
      </p:pic>
    </p:spTree>
    <p:extLst>
      <p:ext uri="{BB962C8B-B14F-4D97-AF65-F5344CB8AC3E}">
        <p14:creationId xmlns:p14="http://schemas.microsoft.com/office/powerpoint/2010/main" val="379745499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9540" y="93663"/>
            <a:ext cx="11883390" cy="477837"/>
          </a:xfrm>
        </p:spPr>
        <p:txBody>
          <a:bodyPr>
            <a:normAutofit/>
          </a:bodyPr>
          <a:lstStyle/>
          <a:p>
            <a:pPr algn="l"/>
            <a:r>
              <a:rPr lang="en-GB" sz="2400" b="1" dirty="0" smtClean="0">
                <a:latin typeface="+mn-lt"/>
              </a:rPr>
              <a:t>Brief Description of Cleaned Automobile Data</a:t>
            </a:r>
            <a:endParaRPr lang="en-GB" sz="2400" b="1" dirty="0">
              <a:latin typeface="+mn-lt"/>
            </a:endParaRPr>
          </a:p>
        </p:txBody>
      </p:sp>
      <p:pic>
        <p:nvPicPr>
          <p:cNvPr id="4" name="Picture 3"/>
          <p:cNvPicPr>
            <a:picLocks noChangeAspect="1"/>
          </p:cNvPicPr>
          <p:nvPr/>
        </p:nvPicPr>
        <p:blipFill>
          <a:blip r:embed="rId2"/>
          <a:stretch>
            <a:fillRect/>
          </a:stretch>
        </p:blipFill>
        <p:spPr>
          <a:xfrm>
            <a:off x="312420" y="822960"/>
            <a:ext cx="9300211" cy="5977890"/>
          </a:xfrm>
          <a:prstGeom prst="rect">
            <a:avLst/>
          </a:prstGeom>
        </p:spPr>
      </p:pic>
    </p:spTree>
    <p:extLst>
      <p:ext uri="{BB962C8B-B14F-4D97-AF65-F5344CB8AC3E}">
        <p14:creationId xmlns:p14="http://schemas.microsoft.com/office/powerpoint/2010/main" val="369775742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9784" y="1008412"/>
            <a:ext cx="5108266" cy="4546568"/>
          </a:xfrm>
          <a:prstGeom prst="rect">
            <a:avLst/>
          </a:prstGeom>
        </p:spPr>
      </p:pic>
      <p:sp>
        <p:nvSpPr>
          <p:cNvPr id="4" name="Rectangle 3"/>
          <p:cNvSpPr/>
          <p:nvPr/>
        </p:nvSpPr>
        <p:spPr>
          <a:xfrm>
            <a:off x="339090" y="85082"/>
            <a:ext cx="11025596" cy="1015663"/>
          </a:xfrm>
          <a:prstGeom prst="rect">
            <a:avLst/>
          </a:prstGeom>
        </p:spPr>
        <p:txBody>
          <a:bodyPr wrap="square">
            <a:spAutoFit/>
          </a:bodyPr>
          <a:lstStyle/>
          <a:p>
            <a:pPr>
              <a:lnSpc>
                <a:spcPct val="300000"/>
              </a:lnSpc>
            </a:pPr>
            <a:r>
              <a:rPr lang="en-US" sz="2000" b="1" dirty="0" smtClean="0"/>
              <a:t>Answers to Business Questions</a:t>
            </a:r>
            <a:r>
              <a:rPr lang="en-US" b="1" dirty="0" smtClean="0"/>
              <a:t>: </a:t>
            </a:r>
            <a:r>
              <a:rPr lang="en-US" b="1" dirty="0"/>
              <a:t>What is the relationship between </a:t>
            </a:r>
            <a:r>
              <a:rPr lang="en-US" b="1" dirty="0" smtClean="0"/>
              <a:t>vehicle age and </a:t>
            </a:r>
            <a:r>
              <a:rPr lang="en-US" b="1" dirty="0"/>
              <a:t>crash severity ?</a:t>
            </a:r>
          </a:p>
        </p:txBody>
      </p:sp>
      <p:sp>
        <p:nvSpPr>
          <p:cNvPr id="5" name="Rectangle 4"/>
          <p:cNvSpPr/>
          <p:nvPr/>
        </p:nvSpPr>
        <p:spPr>
          <a:xfrm>
            <a:off x="6076114" y="1258136"/>
            <a:ext cx="6115886" cy="3416320"/>
          </a:xfrm>
          <a:prstGeom prst="rect">
            <a:avLst/>
          </a:prstGeom>
        </p:spPr>
        <p:txBody>
          <a:bodyPr wrap="square">
            <a:spAutoFit/>
          </a:bodyPr>
          <a:lstStyle/>
          <a:p>
            <a:pPr>
              <a:lnSpc>
                <a:spcPct val="150000"/>
              </a:lnSpc>
            </a:pPr>
            <a:r>
              <a:rPr lang="en-US" b="1" dirty="0" smtClean="0"/>
              <a:t>Findings:</a:t>
            </a:r>
            <a:endParaRPr lang="en-US" dirty="0"/>
          </a:p>
          <a:p>
            <a:pPr marL="285750" indent="-285750">
              <a:lnSpc>
                <a:spcPct val="150000"/>
              </a:lnSpc>
              <a:buFont typeface="Arial" panose="020B0604020202020204" pitchFamily="34" charset="0"/>
              <a:buChar char="•"/>
            </a:pPr>
            <a:r>
              <a:rPr lang="en-US" dirty="0" smtClean="0"/>
              <a:t>Drivers with </a:t>
            </a:r>
            <a:r>
              <a:rPr lang="en-US" dirty="0"/>
              <a:t>older vehicles are more likely to sustain severe injuries in crashes compared to those in newer models. </a:t>
            </a:r>
          </a:p>
          <a:p>
            <a:pPr marL="285750" indent="-285750">
              <a:lnSpc>
                <a:spcPct val="150000"/>
              </a:lnSpc>
              <a:buFont typeface="Arial" panose="020B0604020202020204" pitchFamily="34" charset="0"/>
              <a:buChar char="•"/>
            </a:pPr>
            <a:r>
              <a:rPr lang="en-US" dirty="0" smtClean="0"/>
              <a:t>Automotive </a:t>
            </a:r>
            <a:r>
              <a:rPr lang="en-US" dirty="0"/>
              <a:t>manufacturers and dealerships can leverage this information to promote the safety benefits of newer vehicles, potentially boosting sales. Insurance companies might consider adjusting premiums based on vehicle age to reflect the increased risk associated with older cars</a:t>
            </a:r>
            <a:r>
              <a:rPr lang="en-US" dirty="0" smtClean="0"/>
              <a:t>.</a:t>
            </a:r>
            <a:endParaRPr lang="en-US" dirty="0"/>
          </a:p>
        </p:txBody>
      </p:sp>
    </p:spTree>
    <p:extLst>
      <p:ext uri="{BB962C8B-B14F-4D97-AF65-F5344CB8AC3E}">
        <p14:creationId xmlns:p14="http://schemas.microsoft.com/office/powerpoint/2010/main" val="242872508"/>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34340" y="1534192"/>
            <a:ext cx="5842987" cy="4729511"/>
          </a:xfrm>
          <a:prstGeom prst="rect">
            <a:avLst/>
          </a:prstGeom>
        </p:spPr>
      </p:pic>
      <p:sp>
        <p:nvSpPr>
          <p:cNvPr id="5" name="TextBox 4"/>
          <p:cNvSpPr txBox="1"/>
          <p:nvPr/>
        </p:nvSpPr>
        <p:spPr>
          <a:xfrm>
            <a:off x="6766560" y="2606285"/>
            <a:ext cx="3886200" cy="2585323"/>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smtClean="0">
                <a:ln>
                  <a:noFill/>
                </a:ln>
                <a:solidFill>
                  <a:prstClr val="black"/>
                </a:solidFill>
                <a:effectLst/>
                <a:uLnTx/>
                <a:uFillTx/>
                <a:latin typeface="Calibri" panose="020F0502020204030204"/>
                <a:ea typeface="+mn-ea"/>
                <a:cs typeface="+mn-cs"/>
              </a:rPr>
              <a:t>Findings:</a:t>
            </a:r>
          </a:p>
          <a:p>
            <a:pPr marL="0" marR="0" lvl="0" indent="0" algn="l" defTabSz="914400" rtl="0" eaLnBrk="1" fontAlgn="auto" latinLnBrk="0" hangingPunct="1">
              <a:lnSpc>
                <a:spcPct val="150000"/>
              </a:lnSpc>
              <a:spcBef>
                <a:spcPts val="0"/>
              </a:spcBef>
              <a:spcAft>
                <a:spcPts val="0"/>
              </a:spcAft>
              <a:buClrTx/>
              <a:buSzTx/>
              <a:buFont typeface="+mj-lt"/>
              <a:buAutoNum type="arabicPeriod"/>
              <a:tabLst/>
              <a:defRPr/>
            </a:pPr>
            <a:r>
              <a:rPr kumimoji="0" lang="en-US" sz="1800" b="0" i="0" u="none" strike="noStrike" kern="1200" cap="none" spc="0" normalizeH="0" baseline="0" noProof="0" dirty="0" smtClean="0">
                <a:ln>
                  <a:noFill/>
                </a:ln>
                <a:solidFill>
                  <a:prstClr val="black"/>
                </a:solidFill>
                <a:effectLst/>
                <a:uLnTx/>
                <a:uFillTx/>
                <a:latin typeface="Calibri" panose="020F0502020204030204"/>
                <a:ea typeface="+mn-ea"/>
                <a:cs typeface="+mn-cs"/>
              </a:rPr>
              <a:t>Higher risk-taking behavior for younger drivers</a:t>
            </a:r>
          </a:p>
          <a:p>
            <a:pPr marL="285750" marR="0" lvl="0" indent="-285750" algn="l" defTabSz="914400" rtl="0" eaLnBrk="1" fontAlgn="auto" latinLnBrk="0" hangingPunct="1">
              <a:lnSpc>
                <a:spcPct val="150000"/>
              </a:lnSpc>
              <a:spcBef>
                <a:spcPts val="0"/>
              </a:spcBef>
              <a:spcAft>
                <a:spcPts val="0"/>
              </a:spcAft>
              <a:buClrTx/>
              <a:buSzTx/>
              <a:buFont typeface="+mj-lt"/>
              <a:buAutoNum type="arabicPeriod"/>
              <a:tabLst/>
              <a:defRPr/>
            </a:pPr>
            <a:r>
              <a:rPr kumimoji="0" lang="en-US" sz="1800" b="0" i="0" u="none" strike="noStrike" kern="1200" cap="none" spc="0" normalizeH="0" baseline="0" noProof="0" dirty="0" smtClean="0">
                <a:ln>
                  <a:noFill/>
                </a:ln>
                <a:solidFill>
                  <a:prstClr val="black"/>
                </a:solidFill>
                <a:effectLst/>
                <a:uLnTx/>
                <a:uFillTx/>
                <a:latin typeface="Calibri" panose="020F0502020204030204"/>
                <a:ea typeface="+mn-ea"/>
                <a:cs typeface="+mn-cs"/>
              </a:rPr>
              <a:t>Older </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drivers are more likely to be involved in minor crashes.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smtClean="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Rectangle 5"/>
          <p:cNvSpPr/>
          <p:nvPr/>
        </p:nvSpPr>
        <p:spPr>
          <a:xfrm>
            <a:off x="556260" y="334417"/>
            <a:ext cx="10336530" cy="923330"/>
          </a:xfrm>
          <a:prstGeom prst="rect">
            <a:avLst/>
          </a:prstGeom>
        </p:spPr>
        <p:txBody>
          <a:bodyPr wrap="square">
            <a:spAutoFit/>
          </a:bodyPr>
          <a:lstStyle/>
          <a:p>
            <a:pPr marL="0" marR="0" lvl="0" indent="0" algn="l" defTabSz="914400" rtl="0" eaLnBrk="1" fontAlgn="auto" latinLnBrk="0" hangingPunct="1">
              <a:lnSpc>
                <a:spcPct val="300000"/>
              </a:lnSpc>
              <a:spcBef>
                <a:spcPts val="0"/>
              </a:spcBef>
              <a:spcAft>
                <a:spcPts val="0"/>
              </a:spcAft>
              <a:buClrTx/>
              <a:buSzTx/>
              <a:buFontTx/>
              <a:buNone/>
              <a:tabLst/>
              <a:defRPr/>
            </a:pPr>
            <a:r>
              <a:rPr kumimoji="0" lang="en-US" sz="1800" b="1" i="0" u="none" strike="noStrike" kern="1200" cap="none" spc="0" normalizeH="0" baseline="0" noProof="0" dirty="0" smtClean="0">
                <a:ln>
                  <a:noFill/>
                </a:ln>
                <a:solidFill>
                  <a:prstClr val="black"/>
                </a:solidFill>
                <a:effectLst/>
                <a:uLnTx/>
                <a:uFillTx/>
                <a:latin typeface="Calibri" panose="020F0502020204030204"/>
                <a:ea typeface="+mn-ea"/>
                <a:cs typeface="+mn-cs"/>
              </a:rPr>
              <a:t>1.1.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What is the relationship between driver </a:t>
            </a:r>
            <a:r>
              <a:rPr kumimoji="0" lang="en-US" sz="1800" b="1" i="0" u="none" strike="noStrike" kern="1200" cap="none" spc="0" normalizeH="0" baseline="0" noProof="0" dirty="0" smtClean="0">
                <a:ln>
                  <a:noFill/>
                </a:ln>
                <a:solidFill>
                  <a:prstClr val="black"/>
                </a:solidFill>
                <a:effectLst/>
                <a:uLnTx/>
                <a:uFillTx/>
                <a:latin typeface="Calibri" panose="020F0502020204030204"/>
                <a:ea typeface="+mn-ea"/>
                <a:cs typeface="+mn-cs"/>
              </a:rPr>
              <a:t>age and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crash severity ?</a:t>
            </a:r>
          </a:p>
        </p:txBody>
      </p:sp>
    </p:spTree>
    <p:extLst>
      <p:ext uri="{BB962C8B-B14F-4D97-AF65-F5344CB8AC3E}">
        <p14:creationId xmlns:p14="http://schemas.microsoft.com/office/powerpoint/2010/main" val="3662775163"/>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247650" y="0"/>
            <a:ext cx="8976360" cy="784830"/>
          </a:xfrm>
          <a:prstGeom prst="rect">
            <a:avLst/>
          </a:prstGeom>
        </p:spPr>
        <p:txBody>
          <a:bodyPr wrap="square">
            <a:spAutoFit/>
          </a:bodyPr>
          <a:lstStyle/>
          <a:p>
            <a:pPr lvl="0" eaLnBrk="0" fontAlgn="base" hangingPunct="0">
              <a:lnSpc>
                <a:spcPct val="250000"/>
              </a:lnSpc>
              <a:spcBef>
                <a:spcPct val="0"/>
              </a:spcBef>
              <a:spcAft>
                <a:spcPct val="0"/>
              </a:spcAft>
            </a:pPr>
            <a:r>
              <a:rPr lang="en-US" altLang="en-US" b="1" dirty="0" smtClean="0"/>
              <a:t>2.2. </a:t>
            </a:r>
            <a:r>
              <a:rPr lang="en-US" altLang="en-US" b="1" dirty="0"/>
              <a:t>Which vehicle types </a:t>
            </a:r>
            <a:r>
              <a:rPr lang="en-US" altLang="en-US" b="1" dirty="0" smtClean="0"/>
              <a:t>are </a:t>
            </a:r>
            <a:r>
              <a:rPr lang="en-US" altLang="en-US" b="1" dirty="0"/>
              <a:t>associated with the highest crash rates?</a:t>
            </a:r>
          </a:p>
        </p:txBody>
      </p:sp>
      <p:sp>
        <p:nvSpPr>
          <p:cNvPr id="4" name="TextBox 3"/>
          <p:cNvSpPr txBox="1"/>
          <p:nvPr/>
        </p:nvSpPr>
        <p:spPr>
          <a:xfrm>
            <a:off x="7655787" y="924808"/>
            <a:ext cx="3771900" cy="5816977"/>
          </a:xfrm>
          <a:prstGeom prst="rect">
            <a:avLst/>
          </a:prstGeom>
          <a:noFill/>
        </p:spPr>
        <p:txBody>
          <a:bodyPr wrap="square" rtlCol="0">
            <a:spAutoFit/>
          </a:bodyPr>
          <a:lstStyle/>
          <a:p>
            <a:r>
              <a:rPr lang="en-GB" b="1" dirty="0" smtClean="0"/>
              <a:t>Findings</a:t>
            </a:r>
          </a:p>
          <a:p>
            <a:pPr>
              <a:lnSpc>
                <a:spcPct val="150000"/>
              </a:lnSpc>
            </a:pPr>
            <a:r>
              <a:rPr lang="en-GB" sz="1600" dirty="0" smtClean="0">
                <a:solidFill>
                  <a:srgbClr val="FF0000"/>
                </a:solidFill>
              </a:rPr>
              <a:t> </a:t>
            </a:r>
            <a:r>
              <a:rPr lang="en-US" sz="1600" dirty="0"/>
              <a:t>Among all the vehicle makes, </a:t>
            </a:r>
            <a:r>
              <a:rPr lang="en-US" sz="1600" dirty="0" err="1"/>
              <a:t>Maruti</a:t>
            </a:r>
            <a:r>
              <a:rPr lang="en-US" sz="1600" dirty="0"/>
              <a:t> Suzuki has the highest total count of crash severity, with a significant contribution from sedans (1,052) and SUVs (995</a:t>
            </a:r>
            <a:r>
              <a:rPr lang="en-US" sz="1600" dirty="0" smtClean="0"/>
              <a:t>).</a:t>
            </a:r>
          </a:p>
          <a:p>
            <a:pPr>
              <a:lnSpc>
                <a:spcPct val="150000"/>
              </a:lnSpc>
            </a:pPr>
            <a:r>
              <a:rPr lang="en-US" sz="1600" dirty="0"/>
              <a:t>SUVs have the highest crash severity counts across most makes. This trend is consistent across these four vehicle makes</a:t>
            </a:r>
            <a:r>
              <a:rPr lang="en-US" sz="1600" dirty="0" smtClean="0"/>
              <a:t>.</a:t>
            </a:r>
          </a:p>
          <a:p>
            <a:pPr>
              <a:lnSpc>
                <a:spcPct val="150000"/>
              </a:lnSpc>
            </a:pPr>
            <a:r>
              <a:rPr lang="en-US" sz="1600" dirty="0"/>
              <a:t>Sedans have a significant impact on crash severity for </a:t>
            </a:r>
            <a:r>
              <a:rPr lang="en-US" sz="1600" dirty="0" err="1"/>
              <a:t>Maruti</a:t>
            </a:r>
            <a:r>
              <a:rPr lang="en-US" sz="1600" dirty="0"/>
              <a:t> Suzuki: Unlike other vehicle makes where SUVs dominate the crash severity counts, </a:t>
            </a:r>
            <a:r>
              <a:rPr lang="en-US" sz="1600" dirty="0" err="1"/>
              <a:t>Maruti</a:t>
            </a:r>
            <a:r>
              <a:rPr lang="en-US" sz="1600" dirty="0"/>
              <a:t> Suzuki has a notably high crash severity count for sedans (1,052), which is the highest single count for any vehicle type across all makes.</a:t>
            </a:r>
          </a:p>
          <a:p>
            <a:endParaRPr lang="en-GB" dirty="0">
              <a:solidFill>
                <a:srgbClr val="FF0000"/>
              </a:solidFill>
            </a:endParaRPr>
          </a:p>
        </p:txBody>
      </p:sp>
      <p:pic>
        <p:nvPicPr>
          <p:cNvPr id="7" name="Picture 6"/>
          <p:cNvPicPr>
            <a:picLocks noChangeAspect="1"/>
          </p:cNvPicPr>
          <p:nvPr/>
        </p:nvPicPr>
        <p:blipFill>
          <a:blip r:embed="rId2"/>
          <a:stretch>
            <a:fillRect/>
          </a:stretch>
        </p:blipFill>
        <p:spPr>
          <a:xfrm>
            <a:off x="82192" y="945222"/>
            <a:ext cx="7489862" cy="5776151"/>
          </a:xfrm>
          <a:prstGeom prst="rect">
            <a:avLst/>
          </a:prstGeom>
        </p:spPr>
      </p:pic>
    </p:spTree>
    <p:extLst>
      <p:ext uri="{BB962C8B-B14F-4D97-AF65-F5344CB8AC3E}">
        <p14:creationId xmlns:p14="http://schemas.microsoft.com/office/powerpoint/2010/main" val="129158831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11638" y="239514"/>
            <a:ext cx="11830050" cy="4401205"/>
          </a:xfrm>
          <a:prstGeom prst="rect">
            <a:avLst/>
          </a:prstGeom>
        </p:spPr>
        <p:txBody>
          <a:bodyPr wrap="square">
            <a:spAutoFit/>
          </a:bodyPr>
          <a:lstStyle/>
          <a:p>
            <a:pPr lvl="0" eaLnBrk="0" fontAlgn="base" hangingPunct="0">
              <a:lnSpc>
                <a:spcPct val="250000"/>
              </a:lnSpc>
              <a:spcBef>
                <a:spcPct val="0"/>
              </a:spcBef>
              <a:spcAft>
                <a:spcPct val="0"/>
              </a:spcAft>
            </a:pPr>
            <a:r>
              <a:rPr lang="en-US" altLang="en-US" sz="1600" b="1" dirty="0" smtClean="0"/>
              <a:t> What is the trend of the number crashes throughout the week and in different times of the day?</a:t>
            </a:r>
            <a:endParaRPr lang="en-US" altLang="en-US" sz="1600" b="1" dirty="0"/>
          </a:p>
          <a:p>
            <a:pPr lvl="0" eaLnBrk="0" fontAlgn="base" hangingPunct="0">
              <a:lnSpc>
                <a:spcPct val="250000"/>
              </a:lnSpc>
              <a:spcBef>
                <a:spcPct val="0"/>
              </a:spcBef>
              <a:spcAft>
                <a:spcPct val="0"/>
              </a:spcAft>
            </a:pPr>
            <a:r>
              <a:rPr lang="en-US" altLang="en-US" sz="1600" b="1" dirty="0" smtClean="0"/>
              <a:t>Reason: </a:t>
            </a:r>
            <a:r>
              <a:rPr lang="en-US" altLang="en-US" sz="1600" dirty="0" smtClean="0"/>
              <a:t>Identifying </a:t>
            </a:r>
            <a:r>
              <a:rPr lang="en-US" altLang="en-US" sz="1600" dirty="0"/>
              <a:t>High-Risk Time </a:t>
            </a:r>
            <a:r>
              <a:rPr lang="en-US" altLang="en-US" sz="1600" dirty="0" smtClean="0"/>
              <a:t>Periods</a:t>
            </a:r>
          </a:p>
          <a:p>
            <a:pPr lvl="0" eaLnBrk="0" fontAlgn="base" hangingPunct="0">
              <a:lnSpc>
                <a:spcPct val="250000"/>
              </a:lnSpc>
              <a:spcBef>
                <a:spcPct val="0"/>
              </a:spcBef>
              <a:spcAft>
                <a:spcPct val="0"/>
              </a:spcAft>
            </a:pPr>
            <a:r>
              <a:rPr lang="en-US" altLang="en-US" sz="1600" dirty="0" smtClean="0"/>
              <a:t>Certain </a:t>
            </a:r>
            <a:r>
              <a:rPr lang="en-US" altLang="en-US" sz="1600" dirty="0"/>
              <a:t>days of the week or times of the day might show higher crash rates. For example</a:t>
            </a:r>
            <a:r>
              <a:rPr lang="en-US" altLang="en-US" sz="1600" dirty="0" smtClean="0"/>
              <a:t>:</a:t>
            </a:r>
          </a:p>
          <a:p>
            <a:pPr lvl="0" eaLnBrk="0" fontAlgn="base" hangingPunct="0">
              <a:lnSpc>
                <a:spcPct val="250000"/>
              </a:lnSpc>
              <a:spcBef>
                <a:spcPct val="0"/>
              </a:spcBef>
              <a:spcAft>
                <a:spcPct val="0"/>
              </a:spcAft>
            </a:pPr>
            <a:r>
              <a:rPr lang="en-US" altLang="en-US" sz="1600" b="1" dirty="0" smtClean="0"/>
              <a:t>Weekdays</a:t>
            </a:r>
            <a:r>
              <a:rPr lang="en-US" altLang="en-US" sz="1600" b="1" dirty="0"/>
              <a:t>: </a:t>
            </a:r>
            <a:r>
              <a:rPr lang="en-US" altLang="en-US" sz="1600" dirty="0" smtClean="0"/>
              <a:t>Increased crashes during rush hours due to heavy commuter traffic.</a:t>
            </a:r>
          </a:p>
          <a:p>
            <a:pPr lvl="0" eaLnBrk="0" fontAlgn="base" hangingPunct="0">
              <a:lnSpc>
                <a:spcPct val="250000"/>
              </a:lnSpc>
              <a:spcBef>
                <a:spcPct val="0"/>
              </a:spcBef>
              <a:spcAft>
                <a:spcPct val="0"/>
              </a:spcAft>
            </a:pPr>
            <a:r>
              <a:rPr lang="en-US" altLang="en-US" sz="1600" b="1" dirty="0" smtClean="0"/>
              <a:t>Weekends: </a:t>
            </a:r>
            <a:r>
              <a:rPr lang="en-US" altLang="en-US" sz="1600" dirty="0" smtClean="0"/>
              <a:t>Higher crashes at night due to recreational activities and potential alcohol consumption</a:t>
            </a:r>
            <a:r>
              <a:rPr lang="en-US" altLang="en-US" sz="1600" b="1" dirty="0" smtClean="0"/>
              <a:t>.</a:t>
            </a:r>
          </a:p>
          <a:p>
            <a:pPr lvl="0" eaLnBrk="0" fontAlgn="base" hangingPunct="0">
              <a:lnSpc>
                <a:spcPct val="250000"/>
              </a:lnSpc>
              <a:spcBef>
                <a:spcPct val="0"/>
              </a:spcBef>
              <a:spcAft>
                <a:spcPct val="0"/>
              </a:spcAft>
            </a:pPr>
            <a:r>
              <a:rPr lang="en-US" altLang="en-US" sz="1600" dirty="0" smtClean="0"/>
              <a:t>Knowing </a:t>
            </a:r>
            <a:r>
              <a:rPr lang="en-US" altLang="en-US" sz="1600" dirty="0"/>
              <a:t>this trend helps authorities focus safety measures on high-risk periods</a:t>
            </a:r>
            <a:r>
              <a:rPr lang="en-US" altLang="en-US" sz="1600" dirty="0" smtClean="0"/>
              <a:t>.</a:t>
            </a:r>
          </a:p>
          <a:p>
            <a:pPr lvl="0" eaLnBrk="0" fontAlgn="base" hangingPunct="0">
              <a:lnSpc>
                <a:spcPct val="250000"/>
              </a:lnSpc>
              <a:spcBef>
                <a:spcPct val="0"/>
              </a:spcBef>
              <a:spcAft>
                <a:spcPct val="0"/>
              </a:spcAft>
            </a:pPr>
            <a:r>
              <a:rPr lang="en-US" altLang="en-US" sz="1600" b="1" dirty="0" smtClean="0"/>
              <a:t>Visualization</a:t>
            </a:r>
            <a:r>
              <a:rPr lang="en-US" altLang="en-US" sz="1600" dirty="0" smtClean="0"/>
              <a:t>: Bar Chart for Days of the week and Time of the day</a:t>
            </a:r>
            <a:endParaRPr lang="en-US" altLang="en-US" sz="1600" dirty="0">
              <a:solidFill>
                <a:srgbClr val="FF0000"/>
              </a:solidFill>
            </a:endParaRPr>
          </a:p>
        </p:txBody>
      </p:sp>
    </p:spTree>
    <p:extLst>
      <p:ext uri="{BB962C8B-B14F-4D97-AF65-F5344CB8AC3E}">
        <p14:creationId xmlns:p14="http://schemas.microsoft.com/office/powerpoint/2010/main" val="387566921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434353" y="1192306"/>
            <a:ext cx="8722659" cy="646331"/>
          </a:xfrm>
          <a:prstGeom prst="rect">
            <a:avLst/>
          </a:prstGeom>
        </p:spPr>
        <p:txBody>
          <a:bodyPr wrap="square">
            <a:spAutoFit/>
          </a:bodyPr>
          <a:lstStyle/>
          <a:p>
            <a:endParaRPr lang="en-US" dirty="0"/>
          </a:p>
          <a:p>
            <a:endParaRPr lang="en-GB" dirty="0"/>
          </a:p>
        </p:txBody>
      </p:sp>
      <p:sp>
        <p:nvSpPr>
          <p:cNvPr id="5" name="Rectangle 4"/>
          <p:cNvSpPr/>
          <p:nvPr/>
        </p:nvSpPr>
        <p:spPr>
          <a:xfrm>
            <a:off x="7475951" y="361922"/>
            <a:ext cx="4592876" cy="3693319"/>
          </a:xfrm>
          <a:prstGeom prst="rect">
            <a:avLst/>
          </a:prstGeom>
        </p:spPr>
        <p:txBody>
          <a:bodyPr wrap="square">
            <a:spAutoFit/>
          </a:bodyPr>
          <a:lstStyle/>
          <a:p>
            <a:r>
              <a:rPr lang="en-US" b="1" dirty="0" smtClean="0"/>
              <a:t>Findings: </a:t>
            </a:r>
          </a:p>
          <a:p>
            <a:r>
              <a:rPr lang="en-US" dirty="0"/>
              <a:t>Wednesday (1,290 accidents) has the highest number of accidents, closely followed by Saturday and Friday.</a:t>
            </a:r>
            <a:endParaRPr lang="en-US" dirty="0" smtClean="0"/>
          </a:p>
          <a:p>
            <a:r>
              <a:rPr lang="en-US" dirty="0"/>
              <a:t>Sunday (1,183 accidents) has the lowest accident count. This suggests reduced activity, possibly due to less commuting or fewer business operations.</a:t>
            </a:r>
          </a:p>
          <a:p>
            <a:r>
              <a:rPr lang="en-US" dirty="0"/>
              <a:t>Accident counts are relatively consistent from Monday through Friday (ranging between 1,223 and 1,290</a:t>
            </a:r>
            <a:r>
              <a:rPr lang="en-US" dirty="0" smtClean="0"/>
              <a:t>).</a:t>
            </a:r>
          </a:p>
          <a:p>
            <a:r>
              <a:rPr lang="en-US" dirty="0"/>
              <a:t>The "Unknown" day category (1,271 accidents) highlights incomplete or unclear data.</a:t>
            </a:r>
            <a:endParaRPr lang="en-GB" dirty="0"/>
          </a:p>
        </p:txBody>
      </p:sp>
      <p:pic>
        <p:nvPicPr>
          <p:cNvPr id="3" name="Picture 2"/>
          <p:cNvPicPr>
            <a:picLocks noChangeAspect="1"/>
          </p:cNvPicPr>
          <p:nvPr/>
        </p:nvPicPr>
        <p:blipFill>
          <a:blip r:embed="rId2"/>
          <a:stretch>
            <a:fillRect/>
          </a:stretch>
        </p:blipFill>
        <p:spPr>
          <a:xfrm>
            <a:off x="62504" y="136800"/>
            <a:ext cx="6503896" cy="6560018"/>
          </a:xfrm>
          <a:prstGeom prst="rect">
            <a:avLst/>
          </a:prstGeom>
        </p:spPr>
      </p:pic>
    </p:spTree>
    <p:extLst>
      <p:ext uri="{BB962C8B-B14F-4D97-AF65-F5344CB8AC3E}">
        <p14:creationId xmlns:p14="http://schemas.microsoft.com/office/powerpoint/2010/main" val="3938215293"/>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7933149" y="400213"/>
            <a:ext cx="4148203" cy="3970318"/>
          </a:xfrm>
          <a:prstGeom prst="rect">
            <a:avLst/>
          </a:prstGeom>
        </p:spPr>
        <p:txBody>
          <a:bodyPr wrap="square">
            <a:spAutoFit/>
          </a:bodyPr>
          <a:lstStyle/>
          <a:p>
            <a:r>
              <a:rPr lang="en-US" b="1" dirty="0" smtClean="0"/>
              <a:t>Business Insights and Findings</a:t>
            </a:r>
            <a:r>
              <a:rPr lang="en-US" dirty="0" smtClean="0"/>
              <a:t>: </a:t>
            </a:r>
          </a:p>
          <a:p>
            <a:endParaRPr lang="en-US" dirty="0"/>
          </a:p>
          <a:p>
            <a:r>
              <a:rPr lang="en-US" dirty="0"/>
              <a:t>The afternoon (3,016 accidents) and evening (2,944 accidents) see the highest number of </a:t>
            </a:r>
            <a:r>
              <a:rPr lang="en-US" dirty="0" smtClean="0"/>
              <a:t>accidents. The afternoon is therefore a high risk period.</a:t>
            </a:r>
          </a:p>
          <a:p>
            <a:r>
              <a:rPr lang="en-US" dirty="0"/>
              <a:t>Businesses should focus on implementing safety measures, such as increased traffic control or targeted safety campaigns, during these periods.</a:t>
            </a:r>
          </a:p>
          <a:p>
            <a:r>
              <a:rPr lang="en-US" dirty="0"/>
              <a:t>The morning (2,000 accidents) and night (2,040 accidents) have significantly fewer accidents compared to afternoon and </a:t>
            </a:r>
            <a:r>
              <a:rPr lang="en-US" dirty="0" smtClean="0"/>
              <a:t>evening. This times represent low risk.</a:t>
            </a:r>
            <a:endParaRPr lang="en-US" dirty="0"/>
          </a:p>
        </p:txBody>
      </p:sp>
      <p:pic>
        <p:nvPicPr>
          <p:cNvPr id="6" name="Picture 5"/>
          <p:cNvPicPr>
            <a:picLocks noChangeAspect="1"/>
          </p:cNvPicPr>
          <p:nvPr/>
        </p:nvPicPr>
        <p:blipFill>
          <a:blip r:embed="rId2"/>
          <a:stretch>
            <a:fillRect/>
          </a:stretch>
        </p:blipFill>
        <p:spPr>
          <a:xfrm>
            <a:off x="288000" y="331201"/>
            <a:ext cx="6804000" cy="6457370"/>
          </a:xfrm>
          <a:prstGeom prst="rect">
            <a:avLst/>
          </a:prstGeom>
        </p:spPr>
      </p:pic>
    </p:spTree>
    <p:extLst>
      <p:ext uri="{BB962C8B-B14F-4D97-AF65-F5344CB8AC3E}">
        <p14:creationId xmlns:p14="http://schemas.microsoft.com/office/powerpoint/2010/main" val="1566994918"/>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33081" y="824752"/>
            <a:ext cx="11465859" cy="1477328"/>
          </a:xfrm>
          <a:prstGeom prst="rect">
            <a:avLst/>
          </a:prstGeom>
        </p:spPr>
        <p:txBody>
          <a:bodyPr wrap="square">
            <a:spAutoFit/>
          </a:bodyPr>
          <a:lstStyle/>
          <a:p>
            <a:r>
              <a:rPr lang="en-US" b="1" dirty="0" smtClean="0"/>
              <a:t> Which </a:t>
            </a:r>
            <a:r>
              <a:rPr lang="en-US" b="1" dirty="0"/>
              <a:t>weather condition is associated with the highest number of automobile crashes?</a:t>
            </a:r>
            <a:endParaRPr lang="en-US" dirty="0"/>
          </a:p>
          <a:p>
            <a:pPr>
              <a:lnSpc>
                <a:spcPct val="200000"/>
              </a:lnSpc>
            </a:pPr>
            <a:r>
              <a:rPr lang="en-US" dirty="0"/>
              <a:t>This question aims to identify which weather condition leads to the most crashes, providing insight into which conditions might need more focus for improving road safety.</a:t>
            </a:r>
          </a:p>
        </p:txBody>
      </p:sp>
    </p:spTree>
    <p:extLst>
      <p:ext uri="{BB962C8B-B14F-4D97-AF65-F5344CB8AC3E}">
        <p14:creationId xmlns:p14="http://schemas.microsoft.com/office/powerpoint/2010/main" val="546439218"/>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6575898" y="252026"/>
            <a:ext cx="5616102" cy="7201972"/>
          </a:xfrm>
          <a:prstGeom prst="rect">
            <a:avLst/>
          </a:prstGeom>
        </p:spPr>
        <p:txBody>
          <a:bodyPr wrap="square">
            <a:spAutoFit/>
          </a:bodyPr>
          <a:lstStyle/>
          <a:p>
            <a:r>
              <a:rPr lang="en-GB" b="1" dirty="0"/>
              <a:t>Findings:</a:t>
            </a:r>
          </a:p>
          <a:p>
            <a:pPr>
              <a:lnSpc>
                <a:spcPct val="150000"/>
              </a:lnSpc>
            </a:pPr>
            <a:r>
              <a:rPr lang="en-US" sz="1600" dirty="0"/>
              <a:t>The bar chart indicates that clear weather conditions are associated with the highest number of automobile crashes, totaling 5,920. This suggests that despite the assumption that clear weather is safer for driving, it may also be linked to higher traffic volumes and possibly driver complacency, leading to more accidents</a:t>
            </a:r>
            <a:r>
              <a:rPr lang="en-US" sz="1600" dirty="0" smtClean="0"/>
              <a:t>.</a:t>
            </a:r>
          </a:p>
          <a:p>
            <a:pPr>
              <a:lnSpc>
                <a:spcPct val="150000"/>
              </a:lnSpc>
            </a:pPr>
            <a:r>
              <a:rPr lang="en-US" sz="1600" dirty="0" smtClean="0"/>
              <a:t>Rainy </a:t>
            </a:r>
            <a:r>
              <a:rPr lang="en-US" sz="1600" dirty="0"/>
              <a:t>weather conditions account for the second-highest number of crashes, with 2,041 incidents. Rain reduces visibility and road traction, contributing to a higher risk of accidents. This emphasizes the need for drivers to exercise increased caution and for improved road infrastructure during rainy conditions. </a:t>
            </a:r>
            <a:endParaRPr lang="en-US" sz="1600" dirty="0" smtClean="0"/>
          </a:p>
          <a:p>
            <a:pPr>
              <a:lnSpc>
                <a:spcPct val="150000"/>
              </a:lnSpc>
            </a:pPr>
            <a:r>
              <a:rPr lang="en-US" sz="1600" dirty="0" smtClean="0"/>
              <a:t>Both </a:t>
            </a:r>
            <a:r>
              <a:rPr lang="en-US" sz="1600" dirty="0"/>
              <a:t>fog and unknown weather conditions have relatively lower counts of automobile crashes, with 1,013 and 1,026 crashes respectively. While these numbers are lower compared to clear and rainy weather conditions, they still indicate that fog can significantly impair visibility, and there may be a lack of data or reporting accuracy for unknown conditions.</a:t>
            </a:r>
            <a:endParaRPr lang="en-US" sz="1600" dirty="0" smtClean="0"/>
          </a:p>
          <a:p>
            <a:endParaRPr lang="en-US" dirty="0"/>
          </a:p>
          <a:p>
            <a:endParaRPr lang="en-GB" dirty="0"/>
          </a:p>
        </p:txBody>
      </p:sp>
      <p:pic>
        <p:nvPicPr>
          <p:cNvPr id="3" name="Picture 2"/>
          <p:cNvPicPr>
            <a:picLocks noChangeAspect="1"/>
          </p:cNvPicPr>
          <p:nvPr/>
        </p:nvPicPr>
        <p:blipFill>
          <a:blip r:embed="rId2"/>
          <a:stretch>
            <a:fillRect/>
          </a:stretch>
        </p:blipFill>
        <p:spPr>
          <a:xfrm>
            <a:off x="192321" y="83312"/>
            <a:ext cx="6057900" cy="6774688"/>
          </a:xfrm>
          <a:prstGeom prst="rect">
            <a:avLst/>
          </a:prstGeom>
        </p:spPr>
      </p:pic>
    </p:spTree>
    <p:extLst>
      <p:ext uri="{BB962C8B-B14F-4D97-AF65-F5344CB8AC3E}">
        <p14:creationId xmlns:p14="http://schemas.microsoft.com/office/powerpoint/2010/main" val="646210504"/>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97180" y="102871"/>
            <a:ext cx="11056620" cy="628650"/>
          </a:xfrm>
        </p:spPr>
        <p:txBody>
          <a:bodyPr>
            <a:normAutofit fontScale="90000"/>
          </a:bodyPr>
          <a:lstStyle/>
          <a:p>
            <a:r>
              <a:rPr lang="en-GB" b="1" dirty="0" smtClean="0"/>
              <a:t>Correlation Analysis</a:t>
            </a:r>
            <a:endParaRPr lang="en-GB" dirty="0"/>
          </a:p>
        </p:txBody>
      </p:sp>
      <p:sp>
        <p:nvSpPr>
          <p:cNvPr id="3" name="Content Placeholder 2"/>
          <p:cNvSpPr>
            <a:spLocks noGrp="1"/>
          </p:cNvSpPr>
          <p:nvPr>
            <p:ph idx="1"/>
          </p:nvPr>
        </p:nvSpPr>
        <p:spPr>
          <a:xfrm>
            <a:off x="297180" y="880110"/>
            <a:ext cx="11056620" cy="5296853"/>
          </a:xfrm>
        </p:spPr>
        <p:txBody>
          <a:bodyPr>
            <a:normAutofit/>
          </a:bodyPr>
          <a:lstStyle/>
          <a:p>
            <a:r>
              <a:rPr lang="en-US" sz="1800" dirty="0"/>
              <a:t>Correlation is a statistical measure that quantifies the degree to which two variables change together. </a:t>
            </a:r>
            <a:r>
              <a:rPr lang="en-US" sz="1800" dirty="0" smtClean="0"/>
              <a:t>Correlation is only calculated for numerical features. It </a:t>
            </a:r>
            <a:r>
              <a:rPr lang="en-US" sz="1800" dirty="0"/>
              <a:t>ranges from -1 to +1, where:</a:t>
            </a:r>
          </a:p>
          <a:p>
            <a:r>
              <a:rPr lang="en-US" sz="1800" dirty="0"/>
              <a:t>+1: Perfect positive relationship (both variables increase together).</a:t>
            </a:r>
          </a:p>
          <a:p>
            <a:r>
              <a:rPr lang="en-US" sz="1800" dirty="0"/>
              <a:t>-1: Perfect negative relationship (one increases as the other decreases).</a:t>
            </a:r>
          </a:p>
          <a:p>
            <a:r>
              <a:rPr lang="en-US" sz="1800" dirty="0"/>
              <a:t>0: No linear relationship</a:t>
            </a:r>
            <a:r>
              <a:rPr lang="en-US" sz="1800" dirty="0" smtClean="0"/>
              <a:t>.</a:t>
            </a:r>
            <a:endParaRPr lang="en-US" sz="2000" dirty="0" smtClean="0"/>
          </a:p>
          <a:p>
            <a:r>
              <a:rPr lang="en-US" sz="2000" dirty="0" smtClean="0"/>
              <a:t>key </a:t>
            </a:r>
            <a:r>
              <a:rPr lang="en-US" sz="2000" dirty="0"/>
              <a:t>factors that contribute to severe </a:t>
            </a:r>
            <a:r>
              <a:rPr lang="en-US" sz="2000" dirty="0" smtClean="0"/>
              <a:t>accidents can be identified and would help </a:t>
            </a:r>
            <a:r>
              <a:rPr lang="en-US" sz="2000" dirty="0"/>
              <a:t>in feature selection for predictive modeling</a:t>
            </a:r>
            <a:r>
              <a:rPr lang="en-US" sz="2000" dirty="0" smtClean="0"/>
              <a:t>.</a:t>
            </a:r>
          </a:p>
          <a:p>
            <a:r>
              <a:rPr lang="en-US" sz="2000" dirty="0"/>
              <a:t> Avoiding Misleading </a:t>
            </a:r>
            <a:r>
              <a:rPr lang="en-US" sz="2000" dirty="0" smtClean="0"/>
              <a:t>Assumptions. Correlation </a:t>
            </a:r>
            <a:r>
              <a:rPr lang="en-US" sz="2000" dirty="0"/>
              <a:t>≠ </a:t>
            </a:r>
            <a:r>
              <a:rPr lang="en-US" sz="2000" dirty="0" smtClean="0"/>
              <a:t>causation. For example, a </a:t>
            </a:r>
            <a:r>
              <a:rPr lang="en-US" sz="2000" dirty="0"/>
              <a:t>positive correlation between Driver Age and Crash Severity might reflect older drivers’ slower reaction times, but it could also be confounded by older vehicles lacking safety </a:t>
            </a:r>
            <a:r>
              <a:rPr lang="en-US" sz="2000" dirty="0" smtClean="0"/>
              <a:t>features. Solution</a:t>
            </a:r>
            <a:r>
              <a:rPr lang="en-US" sz="2000" dirty="0"/>
              <a:t>: Use domain knowledge and additional tests (e.g., hypothesis testing) to validate causality</a:t>
            </a:r>
            <a:endParaRPr lang="en-US" sz="2000" dirty="0" smtClean="0"/>
          </a:p>
        </p:txBody>
      </p:sp>
    </p:spTree>
    <p:extLst>
      <p:ext uri="{BB962C8B-B14F-4D97-AF65-F5344CB8AC3E}">
        <p14:creationId xmlns:p14="http://schemas.microsoft.com/office/powerpoint/2010/main" val="392185804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0" y="1822580"/>
            <a:ext cx="5896073" cy="4938422"/>
          </a:xfrm>
          <a:prstGeom prst="rect">
            <a:avLst/>
          </a:prstGeom>
        </p:spPr>
      </p:pic>
      <p:sp>
        <p:nvSpPr>
          <p:cNvPr id="4" name="Rectangle 3"/>
          <p:cNvSpPr/>
          <p:nvPr/>
        </p:nvSpPr>
        <p:spPr>
          <a:xfrm>
            <a:off x="304800" y="416767"/>
            <a:ext cx="11482873" cy="1113454"/>
          </a:xfrm>
          <a:prstGeom prst="rect">
            <a:avLst/>
          </a:prstGeom>
        </p:spPr>
        <p:style>
          <a:lnRef idx="2">
            <a:schemeClr val="accent5"/>
          </a:lnRef>
          <a:fillRef idx="1">
            <a:schemeClr val="lt1"/>
          </a:fillRef>
          <a:effectRef idx="0">
            <a:schemeClr val="accent5"/>
          </a:effectRef>
          <a:fontRef idx="minor">
            <a:schemeClr val="dk1"/>
          </a:fontRef>
        </p:style>
        <p:txBody>
          <a:bodyPr rtlCol="0" anchor="ctr"/>
          <a:lstStyle/>
          <a:p>
            <a:r>
              <a:rPr lang="en-GB" dirty="0"/>
              <a:t>Correlation </a:t>
            </a:r>
            <a:r>
              <a:rPr lang="en-GB" dirty="0" smtClean="0"/>
              <a:t>Analysis for all the features</a:t>
            </a:r>
            <a:endParaRPr lang="en-GB" dirty="0"/>
          </a:p>
        </p:txBody>
      </p:sp>
      <p:pic>
        <p:nvPicPr>
          <p:cNvPr id="5" name="Picture 4"/>
          <p:cNvPicPr>
            <a:picLocks noChangeAspect="1"/>
          </p:cNvPicPr>
          <p:nvPr/>
        </p:nvPicPr>
        <p:blipFill>
          <a:blip r:embed="rId3"/>
          <a:stretch>
            <a:fillRect/>
          </a:stretch>
        </p:blipFill>
        <p:spPr>
          <a:xfrm>
            <a:off x="5973851" y="1822580"/>
            <a:ext cx="6168385" cy="4938422"/>
          </a:xfrm>
          <a:prstGeom prst="rect">
            <a:avLst/>
          </a:prstGeom>
        </p:spPr>
      </p:pic>
    </p:spTree>
    <p:extLst>
      <p:ext uri="{BB962C8B-B14F-4D97-AF65-F5344CB8AC3E}">
        <p14:creationId xmlns:p14="http://schemas.microsoft.com/office/powerpoint/2010/main" val="250873011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70856" y="230156"/>
            <a:ext cx="10829732" cy="721566"/>
          </a:xfrm>
        </p:spPr>
        <p:txBody>
          <a:bodyPr>
            <a:noAutofit/>
          </a:bodyPr>
          <a:lstStyle/>
          <a:p>
            <a:pPr lvl="0">
              <a:lnSpc>
                <a:spcPct val="100000"/>
              </a:lnSpc>
              <a:spcBef>
                <a:spcPts val="0"/>
              </a:spcBef>
            </a:pPr>
            <a:r>
              <a:rPr lang="en-GB" sz="1800" dirty="0" smtClean="0">
                <a:solidFill>
                  <a:prstClr val="black"/>
                </a:solidFill>
                <a:latin typeface="Calibri" panose="020F0502020204030204"/>
                <a:ea typeface="+mn-ea"/>
                <a:cs typeface="+mn-cs"/>
              </a:rPr>
              <a:t/>
            </a:r>
            <a:br>
              <a:rPr lang="en-GB" sz="1800" dirty="0" smtClean="0">
                <a:solidFill>
                  <a:prstClr val="black"/>
                </a:solidFill>
                <a:latin typeface="Calibri" panose="020F0502020204030204"/>
                <a:ea typeface="+mn-ea"/>
                <a:cs typeface="+mn-cs"/>
              </a:rPr>
            </a:br>
            <a:r>
              <a:rPr lang="en-GB" sz="1800" dirty="0">
                <a:solidFill>
                  <a:prstClr val="black"/>
                </a:solidFill>
                <a:latin typeface="Calibri" panose="020F0502020204030204"/>
                <a:ea typeface="+mn-ea"/>
                <a:cs typeface="+mn-cs"/>
              </a:rPr>
              <a:t/>
            </a:r>
            <a:br>
              <a:rPr lang="en-GB" sz="1800" dirty="0">
                <a:solidFill>
                  <a:prstClr val="black"/>
                </a:solidFill>
                <a:latin typeface="Calibri" panose="020F0502020204030204"/>
                <a:ea typeface="+mn-ea"/>
                <a:cs typeface="+mn-cs"/>
              </a:rPr>
            </a:br>
            <a:r>
              <a:rPr lang="en-GB" sz="1800" dirty="0" smtClean="0">
                <a:solidFill>
                  <a:prstClr val="black"/>
                </a:solidFill>
                <a:latin typeface="Calibri" panose="020F0502020204030204"/>
                <a:ea typeface="+mn-ea"/>
                <a:cs typeface="+mn-cs"/>
              </a:rPr>
              <a:t/>
            </a:r>
            <a:br>
              <a:rPr lang="en-GB" sz="1800" dirty="0" smtClean="0">
                <a:solidFill>
                  <a:prstClr val="black"/>
                </a:solidFill>
                <a:latin typeface="Calibri" panose="020F0502020204030204"/>
                <a:ea typeface="+mn-ea"/>
                <a:cs typeface="+mn-cs"/>
              </a:rPr>
            </a:br>
            <a:r>
              <a:rPr lang="en-GB" sz="1800" dirty="0">
                <a:solidFill>
                  <a:prstClr val="black"/>
                </a:solidFill>
                <a:latin typeface="Calibri" panose="020F0502020204030204"/>
                <a:ea typeface="+mn-ea"/>
                <a:cs typeface="+mn-cs"/>
              </a:rPr>
              <a:t/>
            </a:r>
            <a:br>
              <a:rPr lang="en-GB" sz="1800" dirty="0">
                <a:solidFill>
                  <a:prstClr val="black"/>
                </a:solidFill>
                <a:latin typeface="Calibri" panose="020F0502020204030204"/>
                <a:ea typeface="+mn-ea"/>
                <a:cs typeface="+mn-cs"/>
              </a:rPr>
            </a:br>
            <a:r>
              <a:rPr lang="en-GB" sz="1800" dirty="0" smtClean="0">
                <a:solidFill>
                  <a:prstClr val="black"/>
                </a:solidFill>
                <a:latin typeface="Calibri" panose="020F0502020204030204"/>
                <a:ea typeface="+mn-ea"/>
                <a:cs typeface="+mn-cs"/>
              </a:rPr>
              <a:t/>
            </a:r>
            <a:br>
              <a:rPr lang="en-GB" sz="1800" dirty="0" smtClean="0">
                <a:solidFill>
                  <a:prstClr val="black"/>
                </a:solidFill>
                <a:latin typeface="Calibri" panose="020F0502020204030204"/>
                <a:ea typeface="+mn-ea"/>
                <a:cs typeface="+mn-cs"/>
              </a:rPr>
            </a:br>
            <a:r>
              <a:rPr lang="en-GB" sz="1800" dirty="0">
                <a:solidFill>
                  <a:prstClr val="black"/>
                </a:solidFill>
                <a:latin typeface="Calibri" panose="020F0502020204030204"/>
                <a:ea typeface="+mn-ea"/>
                <a:cs typeface="+mn-cs"/>
              </a:rPr>
              <a:t/>
            </a:r>
            <a:br>
              <a:rPr lang="en-GB" sz="1800" dirty="0">
                <a:solidFill>
                  <a:prstClr val="black"/>
                </a:solidFill>
                <a:latin typeface="Calibri" panose="020F0502020204030204"/>
                <a:ea typeface="+mn-ea"/>
                <a:cs typeface="+mn-cs"/>
              </a:rPr>
            </a:br>
            <a:r>
              <a:rPr lang="en-GB" sz="1800" dirty="0" smtClean="0">
                <a:solidFill>
                  <a:prstClr val="black"/>
                </a:solidFill>
                <a:latin typeface="Calibri" panose="020F0502020204030204"/>
                <a:ea typeface="+mn-ea"/>
                <a:cs typeface="+mn-cs"/>
              </a:rPr>
              <a:t/>
            </a:r>
            <a:br>
              <a:rPr lang="en-GB" sz="1800" dirty="0" smtClean="0">
                <a:solidFill>
                  <a:prstClr val="black"/>
                </a:solidFill>
                <a:latin typeface="Calibri" panose="020F0502020204030204"/>
                <a:ea typeface="+mn-ea"/>
                <a:cs typeface="+mn-cs"/>
              </a:rPr>
            </a:br>
            <a:r>
              <a:rPr lang="en-GB" sz="1800" dirty="0" smtClean="0">
                <a:solidFill>
                  <a:prstClr val="black"/>
                </a:solidFill>
                <a:latin typeface="Calibri" panose="020F0502020204030204"/>
                <a:ea typeface="+mn-ea"/>
                <a:cs typeface="+mn-cs"/>
              </a:rPr>
              <a:t>The </a:t>
            </a:r>
            <a:r>
              <a:rPr lang="en-GB" sz="1800" dirty="0">
                <a:solidFill>
                  <a:prstClr val="black"/>
                </a:solidFill>
                <a:latin typeface="Calibri" panose="020F0502020204030204"/>
                <a:ea typeface="+mn-ea"/>
                <a:cs typeface="+mn-cs"/>
              </a:rPr>
              <a:t>Automobile data would have be taken through the data cleaning pipeline as seen on slide 7. </a:t>
            </a:r>
            <a:br>
              <a:rPr lang="en-GB" sz="1800" dirty="0">
                <a:solidFill>
                  <a:prstClr val="black"/>
                </a:solidFill>
                <a:latin typeface="Calibri" panose="020F0502020204030204"/>
                <a:ea typeface="+mn-ea"/>
                <a:cs typeface="+mn-cs"/>
              </a:rPr>
            </a:br>
            <a:r>
              <a:rPr lang="en-GB" sz="1800" dirty="0">
                <a:solidFill>
                  <a:prstClr val="black"/>
                </a:solidFill>
                <a:latin typeface="Calibri" panose="020F0502020204030204"/>
                <a:ea typeface="+mn-ea"/>
                <a:cs typeface="+mn-cs"/>
              </a:rPr>
              <a:t>The correlation is calculated only for numerical features. From this dataset there are no features which are correlated. The 1 in the heat map is because we were comparing vehicle year with vehicle year. </a:t>
            </a:r>
            <a:br>
              <a:rPr lang="en-GB" sz="1800" dirty="0">
                <a:solidFill>
                  <a:prstClr val="black"/>
                </a:solidFill>
                <a:latin typeface="Calibri" panose="020F0502020204030204"/>
                <a:ea typeface="+mn-ea"/>
                <a:cs typeface="+mn-cs"/>
              </a:rPr>
            </a:br>
            <a:r>
              <a:rPr lang="en-GB" sz="3200" dirty="0" smtClean="0">
                <a:latin typeface="+mn-lt"/>
              </a:rPr>
              <a:t/>
            </a:r>
            <a:br>
              <a:rPr lang="en-GB" sz="3200" dirty="0" smtClean="0">
                <a:latin typeface="+mn-lt"/>
              </a:rPr>
            </a:br>
            <a:endParaRPr lang="en-GB" sz="3200" dirty="0">
              <a:latin typeface="+mn-lt"/>
            </a:endParaRPr>
          </a:p>
        </p:txBody>
      </p:sp>
      <p:pic>
        <p:nvPicPr>
          <p:cNvPr id="5" name="Content Placeholder 4"/>
          <p:cNvPicPr>
            <a:picLocks noGrp="1" noChangeAspect="1"/>
          </p:cNvPicPr>
          <p:nvPr>
            <p:ph idx="1"/>
          </p:nvPr>
        </p:nvPicPr>
        <p:blipFill>
          <a:blip r:embed="rId2"/>
          <a:stretch>
            <a:fillRect/>
          </a:stretch>
        </p:blipFill>
        <p:spPr>
          <a:xfrm>
            <a:off x="1250301" y="1579984"/>
            <a:ext cx="8976049" cy="5106955"/>
          </a:xfrm>
          <a:prstGeom prst="rect">
            <a:avLst/>
          </a:prstGeom>
        </p:spPr>
      </p:pic>
    </p:spTree>
    <p:extLst>
      <p:ext uri="{BB962C8B-B14F-4D97-AF65-F5344CB8AC3E}">
        <p14:creationId xmlns:p14="http://schemas.microsoft.com/office/powerpoint/2010/main" val="208490448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0" y="1392399"/>
            <a:ext cx="6176865" cy="5465601"/>
          </a:xfrm>
          <a:prstGeom prst="rect">
            <a:avLst/>
          </a:prstGeom>
        </p:spPr>
      </p:pic>
      <p:sp>
        <p:nvSpPr>
          <p:cNvPr id="3" name="Rectangle 2"/>
          <p:cNvSpPr/>
          <p:nvPr/>
        </p:nvSpPr>
        <p:spPr>
          <a:xfrm>
            <a:off x="111967" y="105747"/>
            <a:ext cx="11520196" cy="1194318"/>
          </a:xfrm>
          <a:prstGeom prst="rect">
            <a:avLst/>
          </a:prstGeom>
        </p:spPr>
        <p:style>
          <a:lnRef idx="2">
            <a:schemeClr val="accent5"/>
          </a:lnRef>
          <a:fillRef idx="1">
            <a:schemeClr val="lt1"/>
          </a:fillRef>
          <a:effectRef idx="0">
            <a:schemeClr val="accent5"/>
          </a:effectRef>
          <a:fontRef idx="minor">
            <a:schemeClr val="dk1"/>
          </a:fontRef>
        </p:style>
        <p:txBody>
          <a:bodyPr rtlCol="0" anchor="ctr"/>
          <a:lstStyle/>
          <a:p>
            <a:r>
              <a:rPr lang="en-US" sz="1600" dirty="0"/>
              <a:t>The boxplot provides insights into the relationship between </a:t>
            </a:r>
            <a:r>
              <a:rPr lang="en-US" sz="1600" dirty="0" err="1"/>
              <a:t>Safety_rating</a:t>
            </a:r>
            <a:r>
              <a:rPr lang="en-US" sz="1600" dirty="0"/>
              <a:t> (1-4) and </a:t>
            </a:r>
            <a:r>
              <a:rPr lang="en-US" sz="1600" dirty="0" err="1"/>
              <a:t>Vehicle_age</a:t>
            </a:r>
            <a:r>
              <a:rPr lang="en-US" sz="1600" dirty="0"/>
              <a:t> (0-20 years).</a:t>
            </a:r>
            <a:endParaRPr lang="en-US" sz="1600" dirty="0" smtClean="0"/>
          </a:p>
          <a:p>
            <a:r>
              <a:rPr lang="en-US" sz="1600" dirty="0" smtClean="0"/>
              <a:t>2</a:t>
            </a:r>
            <a:r>
              <a:rPr lang="en-US" sz="1600" dirty="0"/>
              <a:t>. The median age of vehicles remains consistent across different Safety Ratings. This suggests that Safety Rating does not have a strong influence on the age of the vehicle. The boxplot does not show individual points outside the whiskers, meaning there are no significant outliers in the dataset. </a:t>
            </a:r>
            <a:r>
              <a:rPr lang="en-US" sz="1600" dirty="0" smtClean="0"/>
              <a:t>There is therefore no </a:t>
            </a:r>
            <a:r>
              <a:rPr lang="en-US" sz="1600" dirty="0"/>
              <a:t>clear relationship between Safety Rating and Vehicle </a:t>
            </a:r>
            <a:r>
              <a:rPr lang="en-US" sz="1600" dirty="0" smtClean="0"/>
              <a:t>Age from this boxplot.</a:t>
            </a:r>
            <a:endParaRPr lang="en-GB" sz="1600" dirty="0"/>
          </a:p>
        </p:txBody>
      </p:sp>
      <p:pic>
        <p:nvPicPr>
          <p:cNvPr id="4" name="Picture 3"/>
          <p:cNvPicPr>
            <a:picLocks noChangeAspect="1"/>
          </p:cNvPicPr>
          <p:nvPr/>
        </p:nvPicPr>
        <p:blipFill>
          <a:blip r:embed="rId3"/>
          <a:stretch>
            <a:fillRect/>
          </a:stretch>
        </p:blipFill>
        <p:spPr>
          <a:xfrm>
            <a:off x="6288833" y="1392398"/>
            <a:ext cx="5778759" cy="5465601"/>
          </a:xfrm>
          <a:prstGeom prst="rect">
            <a:avLst/>
          </a:prstGeom>
        </p:spPr>
      </p:pic>
    </p:spTree>
    <p:extLst>
      <p:ext uri="{BB962C8B-B14F-4D97-AF65-F5344CB8AC3E}">
        <p14:creationId xmlns:p14="http://schemas.microsoft.com/office/powerpoint/2010/main" val="12566151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402773" y="-1"/>
            <a:ext cx="11255828" cy="1219201"/>
          </a:xfrm>
          <a:prstGeom prst="rect">
            <a:avLst/>
          </a:prstGeom>
        </p:spPr>
        <p:style>
          <a:lnRef idx="2">
            <a:schemeClr val="accent5"/>
          </a:lnRef>
          <a:fillRef idx="1">
            <a:schemeClr val="lt1"/>
          </a:fillRef>
          <a:effectRef idx="0">
            <a:schemeClr val="accent5"/>
          </a:effectRef>
          <a:fontRef idx="minor">
            <a:schemeClr val="dk1"/>
          </a:fontRef>
        </p:style>
        <p:txBody>
          <a:bodyPr rtlCol="0" anchor="ctr"/>
          <a:lstStyle/>
          <a:p>
            <a:r>
              <a:rPr lang="en-US" dirty="0" smtClean="0"/>
              <a:t>The scatter plot provides a quick visual representation of the relationship between the two variables. </a:t>
            </a:r>
            <a:r>
              <a:rPr lang="en-GB" dirty="0" smtClean="0"/>
              <a:t>If </a:t>
            </a:r>
            <a:r>
              <a:rPr lang="en-GB" dirty="0"/>
              <a:t>there were a trend (e.g., older vehicles having lower safety ratings), it would be visible in the scatter plot. However, in this case, no such trend is apparent</a:t>
            </a:r>
            <a:r>
              <a:rPr lang="en-GB" dirty="0" smtClean="0"/>
              <a:t>. </a:t>
            </a:r>
            <a:r>
              <a:rPr lang="en-US" dirty="0"/>
              <a:t>Since the scatter plot shows no clear relationship, it suggests that the correlation coefficient (calculated in the code) will likely be close to zero, confirming a weak or no linear relationship.</a:t>
            </a:r>
            <a:endParaRPr lang="en-GB" dirty="0"/>
          </a:p>
        </p:txBody>
      </p:sp>
      <p:pic>
        <p:nvPicPr>
          <p:cNvPr id="7" name="Picture 6"/>
          <p:cNvPicPr>
            <a:picLocks noChangeAspect="1"/>
          </p:cNvPicPr>
          <p:nvPr/>
        </p:nvPicPr>
        <p:blipFill>
          <a:blip r:embed="rId2"/>
          <a:stretch>
            <a:fillRect/>
          </a:stretch>
        </p:blipFill>
        <p:spPr>
          <a:xfrm>
            <a:off x="1474237" y="1424472"/>
            <a:ext cx="6958206" cy="5433527"/>
          </a:xfrm>
          <a:prstGeom prst="rect">
            <a:avLst/>
          </a:prstGeom>
        </p:spPr>
      </p:pic>
      <p:sp>
        <p:nvSpPr>
          <p:cNvPr id="8" name="Rectangle 7"/>
          <p:cNvSpPr/>
          <p:nvPr/>
        </p:nvSpPr>
        <p:spPr>
          <a:xfrm>
            <a:off x="8432444" y="2046514"/>
            <a:ext cx="3759556" cy="434340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r>
              <a:rPr lang="en-US" dirty="0"/>
              <a:t>The Safety Rating values (1, 2, 3, and 4) are discrete categories rather than continuous values</a:t>
            </a:r>
            <a:r>
              <a:rPr lang="en-US" dirty="0" smtClean="0"/>
              <a:t>. </a:t>
            </a:r>
          </a:p>
          <a:p>
            <a:r>
              <a:rPr lang="en-US" dirty="0" smtClean="0"/>
              <a:t>This </a:t>
            </a:r>
            <a:r>
              <a:rPr lang="en-US" dirty="0"/>
              <a:t>is why the data points form vertical columns at each Safety Rating level instead of being spread across the </a:t>
            </a:r>
            <a:r>
              <a:rPr lang="en-US" dirty="0" smtClean="0"/>
              <a:t>x-axis. This </a:t>
            </a:r>
            <a:r>
              <a:rPr lang="en-US" dirty="0"/>
              <a:t>scatter plot suggests that Vehicle Age does not significantly impact Safety Rating</a:t>
            </a:r>
            <a:endParaRPr lang="en-GB" dirty="0"/>
          </a:p>
        </p:txBody>
      </p:sp>
    </p:spTree>
    <p:extLst>
      <p:ext uri="{BB962C8B-B14F-4D97-AF65-F5344CB8AC3E}">
        <p14:creationId xmlns:p14="http://schemas.microsoft.com/office/powerpoint/2010/main" val="194395333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0" y="2973939"/>
            <a:ext cx="6425037" cy="3884061"/>
          </a:xfrm>
          <a:prstGeom prst="rect">
            <a:avLst/>
          </a:prstGeom>
        </p:spPr>
      </p:pic>
      <p:pic>
        <p:nvPicPr>
          <p:cNvPr id="3" name="Picture 2"/>
          <p:cNvPicPr>
            <a:picLocks noChangeAspect="1"/>
          </p:cNvPicPr>
          <p:nvPr/>
        </p:nvPicPr>
        <p:blipFill>
          <a:blip r:embed="rId3"/>
          <a:stretch>
            <a:fillRect/>
          </a:stretch>
        </p:blipFill>
        <p:spPr>
          <a:xfrm>
            <a:off x="6522584" y="2973939"/>
            <a:ext cx="5468359" cy="3884061"/>
          </a:xfrm>
          <a:prstGeom prst="rect">
            <a:avLst/>
          </a:prstGeom>
        </p:spPr>
      </p:pic>
      <p:sp>
        <p:nvSpPr>
          <p:cNvPr id="5" name="Rectangle 4"/>
          <p:cNvSpPr/>
          <p:nvPr/>
        </p:nvSpPr>
        <p:spPr>
          <a:xfrm>
            <a:off x="118188" y="323461"/>
            <a:ext cx="11445551" cy="2469502"/>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r>
              <a:rPr lang="en-US" dirty="0"/>
              <a:t>The correlation coefficient between Vehicle Age and Driver Age is 0.006772.Since this value is very close to 0, it suggests almost no correlation between vehicle age and driver age</a:t>
            </a:r>
            <a:r>
              <a:rPr lang="en-US" dirty="0" smtClean="0"/>
              <a:t>.</a:t>
            </a:r>
          </a:p>
          <a:p>
            <a:r>
              <a:rPr lang="en-US" dirty="0"/>
              <a:t>The scatter plot visualizes the relationship between Vehicle Age (x-axis) and Driver Age (y-axis).The regression line appears nearly </a:t>
            </a:r>
            <a:r>
              <a:rPr lang="en-US" dirty="0" smtClean="0"/>
              <a:t>flat or level, </a:t>
            </a:r>
            <a:r>
              <a:rPr lang="en-US" dirty="0"/>
              <a:t>confirming that there is no meaningful trend between the two variables.</a:t>
            </a:r>
            <a:endParaRPr lang="en-US" dirty="0" smtClean="0"/>
          </a:p>
          <a:p>
            <a:r>
              <a:rPr lang="en-US" dirty="0"/>
              <a:t>There is no strong relationship between the age of a vehicle and the age of its driver.</a:t>
            </a:r>
            <a:endParaRPr lang="en-GB" dirty="0"/>
          </a:p>
        </p:txBody>
      </p:sp>
    </p:spTree>
    <p:extLst>
      <p:ext uri="{BB962C8B-B14F-4D97-AF65-F5344CB8AC3E}">
        <p14:creationId xmlns:p14="http://schemas.microsoft.com/office/powerpoint/2010/main" val="150155540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stretch>
            <a:fillRect/>
          </a:stretch>
        </p:blipFill>
        <p:spPr>
          <a:xfrm>
            <a:off x="0" y="2813957"/>
            <a:ext cx="12142237" cy="4044043"/>
          </a:xfrm>
          <a:prstGeom prst="rect">
            <a:avLst/>
          </a:prstGeom>
        </p:spPr>
      </p:pic>
      <p:sp>
        <p:nvSpPr>
          <p:cNvPr id="4" name="Rectangle 3"/>
          <p:cNvSpPr/>
          <p:nvPr/>
        </p:nvSpPr>
        <p:spPr>
          <a:xfrm>
            <a:off x="223935" y="186612"/>
            <a:ext cx="11744130" cy="2270449"/>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r>
              <a:rPr lang="en-US" dirty="0"/>
              <a:t>A correlation of 0.0068 is extremely close to 0, meaning almost no relationship exists between Vehicle Age and Driver Age</a:t>
            </a:r>
            <a:r>
              <a:rPr lang="en-US" dirty="0" smtClean="0"/>
              <a:t>.</a:t>
            </a:r>
          </a:p>
          <a:p>
            <a:r>
              <a:rPr lang="en-US" dirty="0"/>
              <a:t>The P-value tests the statistical significance of the correlation. P = 0.4983 (49.83%) is much higher than 0.05.This means that the correlation is not statistically significant—the observed correlation (0.0068) could have happened by random chance</a:t>
            </a:r>
            <a:r>
              <a:rPr lang="en-US" dirty="0" smtClean="0"/>
              <a:t>.</a:t>
            </a:r>
          </a:p>
          <a:p>
            <a:r>
              <a:rPr lang="en-US" dirty="0"/>
              <a:t>R-squared (R²) measures how much variation in Driver Age can be explained by Vehicle Age. R² = 0.0000459 (≈ 0%) means Vehicle Age explains almost none (0.00459%) of the variation in Driver </a:t>
            </a:r>
            <a:r>
              <a:rPr lang="en-US" dirty="0" err="1"/>
              <a:t>Age.In</a:t>
            </a:r>
            <a:r>
              <a:rPr lang="en-US" dirty="0"/>
              <a:t> other words, knowing the vehicle's age tells us nothing useful about the driver's age</a:t>
            </a:r>
            <a:r>
              <a:rPr lang="en-US" dirty="0" smtClean="0"/>
              <a:t>.</a:t>
            </a:r>
          </a:p>
          <a:p>
            <a:r>
              <a:rPr lang="en-US" dirty="0"/>
              <a:t>No meaningful correlation between Vehicle Age and Driver Age.</a:t>
            </a:r>
            <a:endParaRPr lang="en-GB" dirty="0"/>
          </a:p>
        </p:txBody>
      </p:sp>
    </p:spTree>
    <p:extLst>
      <p:ext uri="{BB962C8B-B14F-4D97-AF65-F5344CB8AC3E}">
        <p14:creationId xmlns:p14="http://schemas.microsoft.com/office/powerpoint/2010/main" val="328631302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580377"/>
          </a:xfrm>
        </p:spPr>
        <p:txBody>
          <a:bodyPr>
            <a:normAutofit fontScale="90000"/>
          </a:bodyPr>
          <a:lstStyle/>
          <a:p>
            <a:r>
              <a:rPr lang="en-US" sz="2000" b="1" dirty="0">
                <a:latin typeface="+mn-lt"/>
              </a:rPr>
              <a:t>Hypothesis </a:t>
            </a:r>
            <a:r>
              <a:rPr lang="en-US" sz="2000" b="1" dirty="0" smtClean="0">
                <a:latin typeface="+mn-lt"/>
              </a:rPr>
              <a:t>Test: Older </a:t>
            </a:r>
            <a:r>
              <a:rPr lang="en-US" sz="2000" b="1" dirty="0">
                <a:latin typeface="+mn-lt"/>
              </a:rPr>
              <a:t>vehicles tend to have larger engine displacement compared to newer vehicles</a:t>
            </a:r>
            <a:endParaRPr lang="en-GB" sz="2000" b="1" dirty="0">
              <a:latin typeface="+mn-lt"/>
            </a:endParaRPr>
          </a:p>
        </p:txBody>
      </p:sp>
      <p:pic>
        <p:nvPicPr>
          <p:cNvPr id="4" name="Content Placeholder 3"/>
          <p:cNvPicPr>
            <a:picLocks noGrp="1" noChangeAspect="1"/>
          </p:cNvPicPr>
          <p:nvPr>
            <p:ph idx="1"/>
          </p:nvPr>
        </p:nvPicPr>
        <p:blipFill>
          <a:blip r:embed="rId2"/>
          <a:stretch>
            <a:fillRect/>
          </a:stretch>
        </p:blipFill>
        <p:spPr>
          <a:xfrm>
            <a:off x="0" y="1679510"/>
            <a:ext cx="5728996" cy="5234474"/>
          </a:xfrm>
          <a:prstGeom prst="rect">
            <a:avLst/>
          </a:prstGeom>
        </p:spPr>
      </p:pic>
      <p:pic>
        <p:nvPicPr>
          <p:cNvPr id="5" name="Picture 4"/>
          <p:cNvPicPr>
            <a:picLocks noChangeAspect="1"/>
          </p:cNvPicPr>
          <p:nvPr/>
        </p:nvPicPr>
        <p:blipFill>
          <a:blip r:embed="rId3"/>
          <a:stretch>
            <a:fillRect/>
          </a:stretch>
        </p:blipFill>
        <p:spPr>
          <a:xfrm>
            <a:off x="5784980" y="1573763"/>
            <a:ext cx="6407020" cy="5284237"/>
          </a:xfrm>
          <a:prstGeom prst="rect">
            <a:avLst/>
          </a:prstGeom>
        </p:spPr>
      </p:pic>
    </p:spTree>
    <p:extLst>
      <p:ext uri="{BB962C8B-B14F-4D97-AF65-F5344CB8AC3E}">
        <p14:creationId xmlns:p14="http://schemas.microsoft.com/office/powerpoint/2010/main" val="359206447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975732" y="1"/>
            <a:ext cx="9959746" cy="6858000"/>
          </a:xfrm>
          <a:prstGeom prst="rect">
            <a:avLst/>
          </a:prstGeom>
        </p:spPr>
      </p:pic>
    </p:spTree>
    <p:extLst>
      <p:ext uri="{BB962C8B-B14F-4D97-AF65-F5344CB8AC3E}">
        <p14:creationId xmlns:p14="http://schemas.microsoft.com/office/powerpoint/2010/main" val="154034384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263714" y="64926"/>
            <a:ext cx="8433902" cy="6793074"/>
          </a:xfrm>
          <a:prstGeom prst="rect">
            <a:avLst/>
          </a:prstGeom>
        </p:spPr>
      </p:pic>
    </p:spTree>
    <p:extLst>
      <p:ext uri="{BB962C8B-B14F-4D97-AF65-F5344CB8AC3E}">
        <p14:creationId xmlns:p14="http://schemas.microsoft.com/office/powerpoint/2010/main" val="201628494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1986188"/>
          </a:xfrm>
        </p:spPr>
        <p:txBody>
          <a:bodyPr>
            <a:noAutofit/>
          </a:bodyPr>
          <a:lstStyle/>
          <a:p>
            <a:pPr>
              <a:lnSpc>
                <a:spcPct val="107000"/>
              </a:lnSpc>
              <a:spcAft>
                <a:spcPts val="800"/>
              </a:spcAft>
            </a:pPr>
            <a:r>
              <a:rPr lang="en-GB" sz="1600" dirty="0" smtClean="0">
                <a:latin typeface="Calibri" panose="020F0502020204030204" pitchFamily="34" charset="0"/>
                <a:ea typeface="Calibri" panose="020F0502020204030204" pitchFamily="34" charset="0"/>
                <a:cs typeface="Times New Roman" panose="02020603050405020304" pitchFamily="18" charset="0"/>
              </a:rPr>
              <a:t/>
            </a:r>
            <a:br>
              <a:rPr lang="en-GB" sz="1600" dirty="0" smtClean="0">
                <a:latin typeface="Calibri" panose="020F0502020204030204" pitchFamily="34" charset="0"/>
                <a:ea typeface="Calibri" panose="020F0502020204030204" pitchFamily="34" charset="0"/>
                <a:cs typeface="Times New Roman" panose="02020603050405020304" pitchFamily="18" charset="0"/>
              </a:rPr>
            </a:br>
            <a:r>
              <a:rPr lang="en-GB" sz="1600" dirty="0">
                <a:latin typeface="Calibri" panose="020F0502020204030204" pitchFamily="34" charset="0"/>
                <a:ea typeface="Calibri" panose="020F0502020204030204" pitchFamily="34" charset="0"/>
                <a:cs typeface="Times New Roman" panose="02020603050405020304" pitchFamily="18" charset="0"/>
              </a:rPr>
              <a:t>The p-value helps determine whether to reject or accept the null hypothesis:</a:t>
            </a:r>
            <a:br>
              <a:rPr lang="en-GB" sz="1600" dirty="0">
                <a:latin typeface="Calibri" panose="020F0502020204030204" pitchFamily="34" charset="0"/>
                <a:ea typeface="Calibri" panose="020F0502020204030204" pitchFamily="34" charset="0"/>
                <a:cs typeface="Times New Roman" panose="02020603050405020304" pitchFamily="18" charset="0"/>
              </a:rPr>
            </a:br>
            <a:r>
              <a:rPr lang="en-GB" sz="1600" dirty="0">
                <a:latin typeface="Calibri" panose="020F0502020204030204" pitchFamily="34" charset="0"/>
                <a:ea typeface="Calibri" panose="020F0502020204030204" pitchFamily="34" charset="0"/>
                <a:cs typeface="Times New Roman" panose="02020603050405020304" pitchFamily="18" charset="0"/>
              </a:rPr>
              <a:t>     - If p &gt; 0.05, we fail to reject the null hypothesis, meaning there is no significant difference.</a:t>
            </a:r>
            <a:br>
              <a:rPr lang="en-GB" sz="1600" dirty="0">
                <a:latin typeface="Calibri" panose="020F0502020204030204" pitchFamily="34" charset="0"/>
                <a:ea typeface="Calibri" panose="020F0502020204030204" pitchFamily="34" charset="0"/>
                <a:cs typeface="Times New Roman" panose="02020603050405020304" pitchFamily="18" charset="0"/>
              </a:rPr>
            </a:br>
            <a:r>
              <a:rPr lang="en-GB" sz="1600" dirty="0">
                <a:latin typeface="Calibri" panose="020F0502020204030204" pitchFamily="34" charset="0"/>
                <a:ea typeface="Calibri" panose="020F0502020204030204" pitchFamily="34" charset="0"/>
                <a:cs typeface="Times New Roman" panose="02020603050405020304" pitchFamily="18" charset="0"/>
              </a:rPr>
              <a:t>     - If p ≤ 0.05, we reject the null hypothesis, indicating a significant difference</a:t>
            </a:r>
            <a:r>
              <a:rPr lang="en-GB" sz="1600" dirty="0" smtClean="0">
                <a:latin typeface="Calibri" panose="020F0502020204030204" pitchFamily="34" charset="0"/>
                <a:ea typeface="Calibri" panose="020F0502020204030204" pitchFamily="34" charset="0"/>
                <a:cs typeface="Times New Roman" panose="02020603050405020304" pitchFamily="18" charset="0"/>
              </a:rPr>
              <a:t>.</a:t>
            </a:r>
            <a:r>
              <a:rPr lang="en-GB" sz="1600" dirty="0">
                <a:latin typeface="Calibri" panose="020F0502020204030204" pitchFamily="34" charset="0"/>
                <a:ea typeface="Calibri" panose="020F0502020204030204" pitchFamily="34" charset="0"/>
                <a:cs typeface="Times New Roman" panose="02020603050405020304" pitchFamily="18" charset="0"/>
              </a:rPr>
              <a:t/>
            </a:r>
            <a:br>
              <a:rPr lang="en-GB" sz="1600" dirty="0">
                <a:latin typeface="Calibri" panose="020F0502020204030204" pitchFamily="34" charset="0"/>
                <a:ea typeface="Calibri" panose="020F0502020204030204" pitchFamily="34" charset="0"/>
                <a:cs typeface="Times New Roman" panose="02020603050405020304" pitchFamily="18" charset="0"/>
              </a:rPr>
            </a:br>
            <a:r>
              <a:rPr lang="en-GB" sz="1600" dirty="0" smtClean="0">
                <a:latin typeface="Calibri" panose="020F0502020204030204" pitchFamily="34" charset="0"/>
                <a:ea typeface="Calibri" panose="020F0502020204030204" pitchFamily="34" charset="0"/>
                <a:cs typeface="Times New Roman" panose="02020603050405020304" pitchFamily="18" charset="0"/>
              </a:rPr>
              <a:t>It </a:t>
            </a:r>
            <a:r>
              <a:rPr lang="en-GB" sz="1600" dirty="0">
                <a:latin typeface="Calibri" panose="020F0502020204030204" pitchFamily="34" charset="0"/>
                <a:ea typeface="Calibri" panose="020F0502020204030204" pitchFamily="34" charset="0"/>
                <a:cs typeface="Times New Roman" panose="02020603050405020304" pitchFamily="18" charset="0"/>
              </a:rPr>
              <a:t>helps assess whether vehicle age (old vs. new) has an impact on engine displacement, which could be important for design, performance, or regulatory considerations</a:t>
            </a:r>
            <a:r>
              <a:rPr lang="en-GB" sz="1600" dirty="0" smtClean="0">
                <a:latin typeface="Calibri" panose="020F0502020204030204" pitchFamily="34" charset="0"/>
                <a:ea typeface="Calibri" panose="020F0502020204030204" pitchFamily="34" charset="0"/>
                <a:cs typeface="Times New Roman" panose="02020603050405020304" pitchFamily="18" charset="0"/>
              </a:rPr>
              <a:t>.</a:t>
            </a:r>
            <a:br>
              <a:rPr lang="en-GB" sz="1600" dirty="0" smtClean="0">
                <a:latin typeface="Calibri" panose="020F0502020204030204" pitchFamily="34" charset="0"/>
                <a:ea typeface="Calibri" panose="020F0502020204030204" pitchFamily="34" charset="0"/>
                <a:cs typeface="Times New Roman" panose="02020603050405020304" pitchFamily="18" charset="0"/>
              </a:rPr>
            </a:br>
            <a:r>
              <a:rPr lang="en-GB" sz="1600" dirty="0" smtClean="0">
                <a:latin typeface="Calibri" panose="020F0502020204030204" pitchFamily="34" charset="0"/>
                <a:ea typeface="Calibri" panose="020F0502020204030204" pitchFamily="34" charset="0"/>
                <a:cs typeface="Times New Roman" panose="02020603050405020304" pitchFamily="18" charset="0"/>
              </a:rPr>
              <a:t>In </a:t>
            </a:r>
            <a:r>
              <a:rPr lang="en-GB" sz="1600" dirty="0">
                <a:latin typeface="Calibri" panose="020F0502020204030204" pitchFamily="34" charset="0"/>
                <a:ea typeface="Calibri" panose="020F0502020204030204" pitchFamily="34" charset="0"/>
                <a:cs typeface="Times New Roman" panose="02020603050405020304" pitchFamily="18" charset="0"/>
              </a:rPr>
              <a:t>this case, since the p-value is greater than 0.05, the conclusion is that there is no significant difference between the engine displacement of old and new vehicles. This suggests that vehicle age does not significantly affect engine displacement.</a:t>
            </a:r>
            <a:br>
              <a:rPr lang="en-GB" sz="1600" dirty="0">
                <a:latin typeface="Calibri" panose="020F0502020204030204" pitchFamily="34" charset="0"/>
                <a:ea typeface="Calibri" panose="020F0502020204030204" pitchFamily="34" charset="0"/>
                <a:cs typeface="Times New Roman" panose="02020603050405020304" pitchFamily="18" charset="0"/>
              </a:rPr>
            </a:br>
            <a:endParaRPr lang="en-GB" sz="1600" dirty="0">
              <a:latin typeface="+mn-lt"/>
            </a:endParaRPr>
          </a:p>
        </p:txBody>
      </p:sp>
      <p:pic>
        <p:nvPicPr>
          <p:cNvPr id="4" name="Content Placeholder 3"/>
          <p:cNvPicPr>
            <a:picLocks noGrp="1" noChangeAspect="1"/>
          </p:cNvPicPr>
          <p:nvPr>
            <p:ph idx="1"/>
          </p:nvPr>
        </p:nvPicPr>
        <p:blipFill>
          <a:blip r:embed="rId2"/>
          <a:stretch>
            <a:fillRect/>
          </a:stretch>
        </p:blipFill>
        <p:spPr>
          <a:xfrm>
            <a:off x="838200" y="2462782"/>
            <a:ext cx="10515600" cy="4395218"/>
          </a:xfrm>
          <a:prstGeom prst="rect">
            <a:avLst/>
          </a:prstGeom>
        </p:spPr>
      </p:pic>
    </p:spTree>
    <p:extLst>
      <p:ext uri="{BB962C8B-B14F-4D97-AF65-F5344CB8AC3E}">
        <p14:creationId xmlns:p14="http://schemas.microsoft.com/office/powerpoint/2010/main" val="7525321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latin typeface="+mn-lt"/>
              </a:rPr>
              <a:t>Machine Learning</a:t>
            </a:r>
            <a:endParaRPr lang="en-GB" dirty="0">
              <a:latin typeface="+mn-lt"/>
            </a:endParaRPr>
          </a:p>
        </p:txBody>
      </p:sp>
      <p:sp>
        <p:nvSpPr>
          <p:cNvPr id="3" name="Content Placeholder 2"/>
          <p:cNvSpPr>
            <a:spLocks noGrp="1"/>
          </p:cNvSpPr>
          <p:nvPr>
            <p:ph idx="1"/>
          </p:nvPr>
        </p:nvSpPr>
        <p:spPr/>
        <p:txBody>
          <a:bodyPr>
            <a:normAutofit/>
          </a:bodyPr>
          <a:lstStyle/>
          <a:p>
            <a:pPr>
              <a:lnSpc>
                <a:spcPct val="150000"/>
              </a:lnSpc>
            </a:pPr>
            <a:r>
              <a:rPr lang="en-US" sz="1900" dirty="0"/>
              <a:t>Machine Learning (ML) is a branch of Artificial Intelligence (AI) that enables computers to learn from data and improve their performance over time without being explicitly </a:t>
            </a:r>
            <a:r>
              <a:rPr lang="en-US" sz="1900" dirty="0" smtClean="0"/>
              <a:t>programmed. It </a:t>
            </a:r>
            <a:r>
              <a:rPr lang="en-US" sz="1900" dirty="0"/>
              <a:t>involves using algorithms to identify patterns in data and make predictions or decisions based on those </a:t>
            </a:r>
            <a:r>
              <a:rPr lang="en-US" sz="1900" dirty="0" smtClean="0"/>
              <a:t>patterns.</a:t>
            </a:r>
          </a:p>
          <a:p>
            <a:pPr>
              <a:lnSpc>
                <a:spcPct val="150000"/>
              </a:lnSpc>
            </a:pPr>
            <a:r>
              <a:rPr lang="en-US" sz="4000" dirty="0"/>
              <a:t>Business </a:t>
            </a:r>
            <a:r>
              <a:rPr lang="en-US" sz="4000" dirty="0" smtClean="0"/>
              <a:t>Question </a:t>
            </a:r>
            <a:r>
              <a:rPr lang="en-US" sz="2400" dirty="0" smtClean="0"/>
              <a:t>(Classification, where outcome is categorical): </a:t>
            </a:r>
          </a:p>
          <a:p>
            <a:pPr>
              <a:lnSpc>
                <a:spcPct val="150000"/>
              </a:lnSpc>
            </a:pPr>
            <a:r>
              <a:rPr lang="en-US" dirty="0" smtClean="0"/>
              <a:t>Which </a:t>
            </a:r>
            <a:r>
              <a:rPr lang="en-US" dirty="0"/>
              <a:t>top 5</a:t>
            </a:r>
            <a:r>
              <a:rPr lang="en-US" dirty="0" smtClean="0"/>
              <a:t> </a:t>
            </a:r>
            <a:r>
              <a:rPr lang="en-US" dirty="0"/>
              <a:t>features have the most impact on the crash severity?</a:t>
            </a:r>
            <a:endParaRPr lang="en-GB" dirty="0"/>
          </a:p>
        </p:txBody>
      </p:sp>
    </p:spTree>
    <p:extLst>
      <p:ext uri="{BB962C8B-B14F-4D97-AF65-F5344CB8AC3E}">
        <p14:creationId xmlns:p14="http://schemas.microsoft.com/office/powerpoint/2010/main" val="10750358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04800" y="335901"/>
            <a:ext cx="12969551" cy="4031873"/>
          </a:xfrm>
          <a:prstGeom prst="rect">
            <a:avLst/>
          </a:prstGeom>
        </p:spPr>
        <p:txBody>
          <a:bodyPr wrap="square">
            <a:spAutoFit/>
          </a:bodyPr>
          <a:lstStyle/>
          <a:p>
            <a:r>
              <a:rPr lang="en-US" sz="1600" b="1" dirty="0"/>
              <a:t>Data Collection</a:t>
            </a:r>
          </a:p>
          <a:p>
            <a:r>
              <a:rPr lang="en-US" sz="1600" b="1" dirty="0" smtClean="0"/>
              <a:t>Purpose</a:t>
            </a:r>
            <a:r>
              <a:rPr lang="en-US" sz="1600" b="1" dirty="0"/>
              <a:t>: </a:t>
            </a:r>
            <a:r>
              <a:rPr lang="en-US" sz="1600" dirty="0"/>
              <a:t>Gather raw data from various sources (e.g., databases, APIs, sensors, or user inputs).</a:t>
            </a:r>
          </a:p>
          <a:p>
            <a:r>
              <a:rPr lang="en-US" sz="1600" b="1" dirty="0" smtClean="0"/>
              <a:t>Example</a:t>
            </a:r>
            <a:r>
              <a:rPr lang="en-US" sz="1600" dirty="0"/>
              <a:t>: Collecting customer transaction records for fraud detection.</a:t>
            </a:r>
          </a:p>
          <a:p>
            <a:endParaRPr lang="en-US" sz="1600" dirty="0"/>
          </a:p>
          <a:p>
            <a:r>
              <a:rPr lang="en-US" sz="1600" b="1" dirty="0"/>
              <a:t>Data Cleaning &amp; Modelling</a:t>
            </a:r>
          </a:p>
          <a:p>
            <a:r>
              <a:rPr lang="en-US" sz="1600" b="1" dirty="0" smtClean="0"/>
              <a:t>Data </a:t>
            </a:r>
            <a:r>
              <a:rPr lang="en-US" sz="1600" b="1" dirty="0"/>
              <a:t>Cleaning: </a:t>
            </a:r>
            <a:r>
              <a:rPr lang="en-US" sz="1600" dirty="0"/>
              <a:t>Process raw data to handle missing values, outliers, duplicates, or inconsistencies.</a:t>
            </a:r>
          </a:p>
          <a:p>
            <a:r>
              <a:rPr lang="en-US" sz="1600" b="1" dirty="0" smtClean="0"/>
              <a:t>Modelling</a:t>
            </a:r>
            <a:r>
              <a:rPr lang="en-US" sz="1600" dirty="0"/>
              <a:t>: Prepare data for training by defining features (feature engineering) and splitting into training/test sets.</a:t>
            </a:r>
          </a:p>
          <a:p>
            <a:r>
              <a:rPr lang="en-US" sz="1600" b="1" dirty="0" smtClean="0"/>
              <a:t>Example</a:t>
            </a:r>
            <a:r>
              <a:rPr lang="en-US" sz="1600" b="1" dirty="0"/>
              <a:t>: </a:t>
            </a:r>
            <a:r>
              <a:rPr lang="en-US" sz="1600" dirty="0"/>
              <a:t>Removing invalid entries and creating features like "average transaction amount."</a:t>
            </a:r>
          </a:p>
          <a:p>
            <a:endParaRPr lang="en-US" sz="1600" dirty="0" smtClean="0"/>
          </a:p>
          <a:p>
            <a:r>
              <a:rPr lang="en-US" sz="1600" b="1" dirty="0" smtClean="0"/>
              <a:t>Model </a:t>
            </a:r>
            <a:r>
              <a:rPr lang="en-US" sz="1600" b="1" dirty="0"/>
              <a:t>Training</a:t>
            </a:r>
          </a:p>
          <a:p>
            <a:r>
              <a:rPr lang="en-US" sz="1600" b="1" dirty="0" smtClean="0"/>
              <a:t>Purpose</a:t>
            </a:r>
            <a:r>
              <a:rPr lang="en-US" sz="1600" dirty="0"/>
              <a:t>: Train machine learning algorithms (e.g., decision trees, neural networks) on the cleaned data to learn patterns.</a:t>
            </a:r>
          </a:p>
          <a:p>
            <a:r>
              <a:rPr lang="en-US" sz="1600" b="1" dirty="0" smtClean="0"/>
              <a:t>Example</a:t>
            </a:r>
            <a:r>
              <a:rPr lang="en-US" sz="1600" b="1" dirty="0"/>
              <a:t>: </a:t>
            </a:r>
            <a:r>
              <a:rPr lang="en-US" sz="1600" dirty="0"/>
              <a:t>Using a training dataset to teach a model to predict fraud.</a:t>
            </a:r>
          </a:p>
          <a:p>
            <a:endParaRPr lang="en-US" sz="1600" b="1" dirty="0" smtClean="0"/>
          </a:p>
          <a:p>
            <a:r>
              <a:rPr lang="en-US" sz="1600" b="1" dirty="0" smtClean="0"/>
              <a:t>Model </a:t>
            </a:r>
            <a:r>
              <a:rPr lang="en-US" sz="1600" b="1" dirty="0"/>
              <a:t>Evaluation</a:t>
            </a:r>
          </a:p>
          <a:p>
            <a:r>
              <a:rPr lang="en-US" sz="1600" b="1" dirty="0" smtClean="0"/>
              <a:t>Purpose</a:t>
            </a:r>
            <a:r>
              <a:rPr lang="en-US" sz="1600" dirty="0"/>
              <a:t>: Assess the model’s performance using metrics like accuracy, precision, recall, or F1-score.</a:t>
            </a:r>
          </a:p>
          <a:p>
            <a:r>
              <a:rPr lang="en-US" sz="1600" b="1" dirty="0" smtClean="0"/>
              <a:t>Example</a:t>
            </a:r>
            <a:r>
              <a:rPr lang="en-US" sz="1600" dirty="0"/>
              <a:t>: Testing the model on unseen data to ensure it generalizes well.</a:t>
            </a:r>
            <a:endParaRPr lang="en-GB" sz="1600" dirty="0"/>
          </a:p>
        </p:txBody>
      </p:sp>
      <p:graphicFrame>
        <p:nvGraphicFramePr>
          <p:cNvPr id="4" name="Diagram 3"/>
          <p:cNvGraphicFramePr/>
          <p:nvPr>
            <p:extLst>
              <p:ext uri="{D42A27DB-BD31-4B8C-83A1-F6EECF244321}">
                <p14:modId xmlns:p14="http://schemas.microsoft.com/office/powerpoint/2010/main" val="2349248008"/>
              </p:ext>
            </p:extLst>
          </p:nvPr>
        </p:nvGraphicFramePr>
        <p:xfrm>
          <a:off x="943429" y="4030824"/>
          <a:ext cx="8150808" cy="25927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54625491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Data Modelling Pipeline</a:t>
            </a:r>
            <a:endParaRPr lang="en-GB"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3053568621"/>
              </p:ext>
            </p:extLst>
          </p:nvPr>
        </p:nvGraphicFramePr>
        <p:xfrm>
          <a:off x="836645" y="3234612"/>
          <a:ext cx="11181184" cy="241973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47476061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549275"/>
          </a:xfrm>
        </p:spPr>
        <p:txBody>
          <a:bodyPr>
            <a:normAutofit/>
          </a:bodyPr>
          <a:lstStyle/>
          <a:p>
            <a:r>
              <a:rPr lang="en-GB" sz="3200" b="1" dirty="0" smtClean="0">
                <a:latin typeface="+mn-lt"/>
              </a:rPr>
              <a:t>Load Data,  clean and Model the data</a:t>
            </a:r>
            <a:endParaRPr lang="en-GB" sz="3200" b="1" dirty="0">
              <a:latin typeface="+mn-lt"/>
            </a:endParaRPr>
          </a:p>
        </p:txBody>
      </p:sp>
      <p:pic>
        <p:nvPicPr>
          <p:cNvPr id="4" name="Content Placeholder 3"/>
          <p:cNvPicPr>
            <a:picLocks noGrp="1" noChangeAspect="1"/>
          </p:cNvPicPr>
          <p:nvPr>
            <p:ph idx="1"/>
          </p:nvPr>
        </p:nvPicPr>
        <p:blipFill>
          <a:blip r:embed="rId2"/>
          <a:stretch>
            <a:fillRect/>
          </a:stretch>
        </p:blipFill>
        <p:spPr>
          <a:xfrm>
            <a:off x="151726" y="1334213"/>
            <a:ext cx="5182947" cy="4351338"/>
          </a:xfrm>
          <a:prstGeom prst="rect">
            <a:avLst/>
          </a:prstGeom>
        </p:spPr>
      </p:pic>
      <p:pic>
        <p:nvPicPr>
          <p:cNvPr id="5" name="Picture 4"/>
          <p:cNvPicPr>
            <a:picLocks noChangeAspect="1"/>
          </p:cNvPicPr>
          <p:nvPr/>
        </p:nvPicPr>
        <p:blipFill>
          <a:blip r:embed="rId3"/>
          <a:stretch>
            <a:fillRect/>
          </a:stretch>
        </p:blipFill>
        <p:spPr>
          <a:xfrm>
            <a:off x="5800092" y="1334213"/>
            <a:ext cx="6182850" cy="4351338"/>
          </a:xfrm>
          <a:prstGeom prst="rect">
            <a:avLst/>
          </a:prstGeom>
        </p:spPr>
      </p:pic>
    </p:spTree>
    <p:extLst>
      <p:ext uri="{BB962C8B-B14F-4D97-AF65-F5344CB8AC3E}">
        <p14:creationId xmlns:p14="http://schemas.microsoft.com/office/powerpoint/2010/main" val="232380659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46922" y="337754"/>
            <a:ext cx="10325878" cy="707886"/>
          </a:xfrm>
          <a:prstGeom prst="rect">
            <a:avLst/>
          </a:prstGeom>
        </p:spPr>
        <p:txBody>
          <a:bodyPr wrap="square">
            <a:spAutoFit/>
          </a:bodyPr>
          <a:lstStyle/>
          <a:p>
            <a:r>
              <a:rPr lang="en-US" sz="2000" b="1" dirty="0"/>
              <a:t>This image demonstrates encoding techniques for categorical data in a machine learning preprocessing workflow</a:t>
            </a:r>
            <a:endParaRPr lang="en-GB" sz="2000" b="1" dirty="0"/>
          </a:p>
        </p:txBody>
      </p:sp>
      <p:pic>
        <p:nvPicPr>
          <p:cNvPr id="3" name="Picture 2"/>
          <p:cNvPicPr>
            <a:picLocks noChangeAspect="1"/>
          </p:cNvPicPr>
          <p:nvPr/>
        </p:nvPicPr>
        <p:blipFill>
          <a:blip r:embed="rId2"/>
          <a:stretch>
            <a:fillRect/>
          </a:stretch>
        </p:blipFill>
        <p:spPr>
          <a:xfrm>
            <a:off x="770663" y="1399426"/>
            <a:ext cx="9797810" cy="5458574"/>
          </a:xfrm>
          <a:prstGeom prst="rect">
            <a:avLst/>
          </a:prstGeom>
        </p:spPr>
      </p:pic>
    </p:spTree>
    <p:extLst>
      <p:ext uri="{BB962C8B-B14F-4D97-AF65-F5344CB8AC3E}">
        <p14:creationId xmlns:p14="http://schemas.microsoft.com/office/powerpoint/2010/main" val="108013172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400" dirty="0">
                <a:latin typeface="+mn-lt"/>
              </a:rPr>
              <a:t>This image shows the one-hot encoding process for nominal categorical data. The key steps are fitting the encoder, transforming the data, converting the array to a </a:t>
            </a:r>
            <a:r>
              <a:rPr lang="en-US" sz="2400" dirty="0" err="1" smtClean="0">
                <a:latin typeface="+mn-lt"/>
              </a:rPr>
              <a:t>DataFrame</a:t>
            </a:r>
            <a:r>
              <a:rPr lang="en-US" sz="2400" dirty="0">
                <a:latin typeface="+mn-lt"/>
              </a:rPr>
              <a:t>. This step is critical for handling non-ordinal categories         </a:t>
            </a:r>
            <a:endParaRPr lang="en-GB" sz="2400" dirty="0">
              <a:latin typeface="+mn-lt"/>
            </a:endParaRPr>
          </a:p>
        </p:txBody>
      </p:sp>
      <p:pic>
        <p:nvPicPr>
          <p:cNvPr id="4" name="Content Placeholder 3"/>
          <p:cNvPicPr>
            <a:picLocks noGrp="1" noChangeAspect="1"/>
          </p:cNvPicPr>
          <p:nvPr>
            <p:ph idx="1"/>
          </p:nvPr>
        </p:nvPicPr>
        <p:blipFill>
          <a:blip r:embed="rId2"/>
          <a:stretch>
            <a:fillRect/>
          </a:stretch>
        </p:blipFill>
        <p:spPr>
          <a:xfrm>
            <a:off x="838201" y="1862947"/>
            <a:ext cx="5537717" cy="4351338"/>
          </a:xfrm>
          <a:prstGeom prst="rect">
            <a:avLst/>
          </a:prstGeom>
        </p:spPr>
      </p:pic>
      <p:pic>
        <p:nvPicPr>
          <p:cNvPr id="5" name="Picture 4"/>
          <p:cNvPicPr>
            <a:picLocks noChangeAspect="1"/>
          </p:cNvPicPr>
          <p:nvPr/>
        </p:nvPicPr>
        <p:blipFill>
          <a:blip r:embed="rId3"/>
          <a:stretch>
            <a:fillRect/>
          </a:stretch>
        </p:blipFill>
        <p:spPr>
          <a:xfrm>
            <a:off x="6480256" y="1862948"/>
            <a:ext cx="5711744" cy="4351338"/>
          </a:xfrm>
          <a:prstGeom prst="rect">
            <a:avLst/>
          </a:prstGeom>
        </p:spPr>
      </p:pic>
    </p:spTree>
    <p:extLst>
      <p:ext uri="{BB962C8B-B14F-4D97-AF65-F5344CB8AC3E}">
        <p14:creationId xmlns:p14="http://schemas.microsoft.com/office/powerpoint/2010/main" val="205439973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 y="2643673"/>
            <a:ext cx="6399284" cy="4214327"/>
          </a:xfrm>
          <a:prstGeom prst="rect">
            <a:avLst/>
          </a:prstGeom>
        </p:spPr>
      </p:pic>
      <p:pic>
        <p:nvPicPr>
          <p:cNvPr id="3" name="Picture 2"/>
          <p:cNvPicPr>
            <a:picLocks noChangeAspect="1"/>
          </p:cNvPicPr>
          <p:nvPr/>
        </p:nvPicPr>
        <p:blipFill>
          <a:blip r:embed="rId3"/>
          <a:stretch>
            <a:fillRect/>
          </a:stretch>
        </p:blipFill>
        <p:spPr>
          <a:xfrm>
            <a:off x="6500327" y="2643673"/>
            <a:ext cx="5747400" cy="4214327"/>
          </a:xfrm>
          <a:prstGeom prst="rect">
            <a:avLst/>
          </a:prstGeom>
        </p:spPr>
      </p:pic>
      <p:sp>
        <p:nvSpPr>
          <p:cNvPr id="4" name="Rectangle 1"/>
          <p:cNvSpPr>
            <a:spLocks noChangeArrowheads="1"/>
          </p:cNvSpPr>
          <p:nvPr/>
        </p:nvSpPr>
        <p:spPr bwMode="auto">
          <a:xfrm>
            <a:off x="99528" y="270556"/>
            <a:ext cx="11706808" cy="23544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sz="2000" b="1" i="0" u="none" strike="noStrike" cap="none" normalizeH="0" baseline="0" dirty="0" smtClean="0">
                <a:ln>
                  <a:noFill/>
                </a:ln>
                <a:solidFill>
                  <a:srgbClr val="404040"/>
                </a:solidFill>
                <a:effectLst/>
              </a:rPr>
              <a:t>This images highlight preprocessing steps for training</a:t>
            </a:r>
            <a:r>
              <a:rPr kumimoji="0" lang="en-US" altLang="en-US" sz="2000" b="1" i="0" u="none" strike="noStrike" cap="none" normalizeH="0" dirty="0" smtClean="0">
                <a:ln>
                  <a:noFill/>
                </a:ln>
                <a:solidFill>
                  <a:srgbClr val="404040"/>
                </a:solidFill>
                <a:effectLst/>
              </a:rPr>
              <a:t> a simple model and Splitting data into a training set and a test set.</a:t>
            </a:r>
            <a:endParaRPr kumimoji="0" lang="en-US" altLang="en-US" sz="1600" i="0" u="none" strike="noStrike" cap="none" normalizeH="0" baseline="0" dirty="0" smtClean="0">
              <a:ln>
                <a:noFill/>
              </a:ln>
              <a:solidFill>
                <a:srgbClr val="404040"/>
              </a:solidFill>
              <a:effectLst/>
            </a:endParaRPr>
          </a:p>
          <a:p>
            <a:pPr marL="0" marR="0" lvl="0" indent="0" algn="l" defTabSz="914400" rtl="0" eaLnBrk="0" fontAlgn="base" latinLnBrk="0" hangingPunct="0">
              <a:lnSpc>
                <a:spcPct val="150000"/>
              </a:lnSpc>
              <a:spcBef>
                <a:spcPct val="0"/>
              </a:spcBef>
              <a:spcAft>
                <a:spcPct val="0"/>
              </a:spcAft>
              <a:buClrTx/>
              <a:buSzTx/>
              <a:tabLst/>
            </a:pPr>
            <a:r>
              <a:rPr kumimoji="0" lang="en-US" altLang="en-US" sz="1600" b="1" i="0" u="none" strike="noStrike" cap="none" normalizeH="0" baseline="0" dirty="0" smtClean="0">
                <a:ln>
                  <a:noFill/>
                </a:ln>
                <a:solidFill>
                  <a:srgbClr val="404040"/>
                </a:solidFill>
                <a:effectLst/>
              </a:rPr>
              <a:t>Data Splitting: </a:t>
            </a:r>
            <a:r>
              <a:rPr kumimoji="0" lang="en-US" altLang="en-US" sz="1600" i="0" u="none" strike="noStrike" cap="none" normalizeH="0" baseline="0" dirty="0" smtClean="0">
                <a:ln>
                  <a:noFill/>
                </a:ln>
                <a:solidFill>
                  <a:srgbClr val="404040"/>
                </a:solidFill>
                <a:effectLst/>
              </a:rPr>
              <a:t>Separate features (input) and target (output), then split into training/testing sets (80/20) with stratification to preserve class distribution.</a:t>
            </a:r>
            <a:br>
              <a:rPr kumimoji="0" lang="en-US" altLang="en-US" sz="1600" i="0" u="none" strike="noStrike" cap="none" normalizeH="0" baseline="0" dirty="0" smtClean="0">
                <a:ln>
                  <a:noFill/>
                </a:ln>
                <a:solidFill>
                  <a:srgbClr val="404040"/>
                </a:solidFill>
                <a:effectLst/>
              </a:rPr>
            </a:br>
            <a:r>
              <a:rPr kumimoji="0" lang="en-US" altLang="en-US" sz="1600" b="1" i="0" u="none" strike="noStrike" cap="none" normalizeH="0" baseline="0" dirty="0" smtClean="0">
                <a:ln>
                  <a:noFill/>
                </a:ln>
                <a:solidFill>
                  <a:srgbClr val="404040"/>
                </a:solidFill>
                <a:effectLst/>
              </a:rPr>
              <a:t>Purpose: </a:t>
            </a:r>
            <a:r>
              <a:rPr kumimoji="0" lang="en-US" altLang="en-US" sz="1600" i="0" u="none" strike="noStrike" cap="none" normalizeH="0" baseline="0" dirty="0" smtClean="0">
                <a:ln>
                  <a:noFill/>
                </a:ln>
                <a:solidFill>
                  <a:srgbClr val="404040"/>
                </a:solidFill>
                <a:effectLst/>
              </a:rPr>
              <a:t>Prepares data for models like logistic regression or decision trees by ensuring a binary, structured input-output format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7742301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0" y="2481943"/>
            <a:ext cx="5816081" cy="4376057"/>
          </a:xfrm>
          <a:prstGeom prst="rect">
            <a:avLst/>
          </a:prstGeom>
        </p:spPr>
      </p:pic>
      <p:sp>
        <p:nvSpPr>
          <p:cNvPr id="4" name="Rectangle 3"/>
          <p:cNvSpPr/>
          <p:nvPr/>
        </p:nvSpPr>
        <p:spPr>
          <a:xfrm>
            <a:off x="211493" y="312871"/>
            <a:ext cx="11719249" cy="2585323"/>
          </a:xfrm>
          <a:prstGeom prst="rect">
            <a:avLst/>
          </a:prstGeom>
        </p:spPr>
        <p:txBody>
          <a:bodyPr wrap="square">
            <a:spAutoFit/>
          </a:bodyPr>
          <a:lstStyle/>
          <a:p>
            <a:r>
              <a:rPr lang="en-US" dirty="0"/>
              <a:t>Logistic Regression is a supervised machine learning algorithm used for binary classification </a:t>
            </a:r>
            <a:r>
              <a:rPr lang="en-US" dirty="0" smtClean="0"/>
              <a:t>problems</a:t>
            </a:r>
            <a:r>
              <a:rPr lang="en-US" dirty="0"/>
              <a:t>.</a:t>
            </a:r>
          </a:p>
          <a:p>
            <a:r>
              <a:rPr lang="en-US" dirty="0" smtClean="0"/>
              <a:t>Logistic </a:t>
            </a:r>
            <a:r>
              <a:rPr lang="en-US" dirty="0"/>
              <a:t>Regression </a:t>
            </a:r>
            <a:r>
              <a:rPr lang="en-US" dirty="0" smtClean="0"/>
              <a:t>are simple and can </a:t>
            </a:r>
            <a:r>
              <a:rPr lang="en-US" dirty="0"/>
              <a:t>struggle with complex, non-linear </a:t>
            </a:r>
            <a:r>
              <a:rPr lang="en-US" dirty="0" smtClean="0"/>
              <a:t>relationships</a:t>
            </a:r>
            <a:endParaRPr lang="en-US" dirty="0"/>
          </a:p>
          <a:p>
            <a:r>
              <a:rPr lang="en-US" dirty="0" smtClean="0"/>
              <a:t>This </a:t>
            </a:r>
            <a:r>
              <a:rPr lang="en-US" dirty="0"/>
              <a:t>image evaluates a logistic regression model for a binary classification task (crash severity prediction</a:t>
            </a:r>
            <a:r>
              <a:rPr lang="en-US" dirty="0" smtClean="0"/>
              <a:t>):</a:t>
            </a:r>
          </a:p>
          <a:p>
            <a:r>
              <a:rPr lang="en-US" dirty="0"/>
              <a:t>The model completely fails to predict class 0 (crash severity is low), as indicated by precision, recall, and F1-score all being 0.00</a:t>
            </a:r>
            <a:r>
              <a:rPr lang="en-US" dirty="0" smtClean="0"/>
              <a:t>. The model is </a:t>
            </a:r>
            <a:r>
              <a:rPr lang="en-US" dirty="0" err="1" smtClean="0"/>
              <a:t>underfitting</a:t>
            </a:r>
            <a:r>
              <a:rPr lang="en-US" dirty="0"/>
              <a:t> </a:t>
            </a:r>
            <a:r>
              <a:rPr lang="en-US" dirty="0" smtClean="0"/>
              <a:t>because the training accuracy and test accuracy are far lower than the acceptable performance. Again, the training and test accuracy are very low.</a:t>
            </a:r>
          </a:p>
          <a:p>
            <a:endParaRPr lang="en-US" dirty="0"/>
          </a:p>
          <a:p>
            <a:endParaRPr lang="en-US" dirty="0" smtClean="0"/>
          </a:p>
          <a:p>
            <a:endParaRPr lang="en-GB" dirty="0"/>
          </a:p>
        </p:txBody>
      </p:sp>
      <p:pic>
        <p:nvPicPr>
          <p:cNvPr id="5" name="Picture 4"/>
          <p:cNvPicPr>
            <a:picLocks noChangeAspect="1"/>
          </p:cNvPicPr>
          <p:nvPr/>
        </p:nvPicPr>
        <p:blipFill>
          <a:blip r:embed="rId3"/>
          <a:stretch>
            <a:fillRect/>
          </a:stretch>
        </p:blipFill>
        <p:spPr>
          <a:xfrm>
            <a:off x="6071117" y="2481943"/>
            <a:ext cx="6096000" cy="4376057"/>
          </a:xfrm>
          <a:prstGeom prst="rect">
            <a:avLst/>
          </a:prstGeom>
        </p:spPr>
      </p:pic>
    </p:spTree>
    <p:extLst>
      <p:ext uri="{BB962C8B-B14F-4D97-AF65-F5344CB8AC3E}">
        <p14:creationId xmlns:p14="http://schemas.microsoft.com/office/powerpoint/2010/main" val="338055698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08856" y="2687217"/>
            <a:ext cx="5878287" cy="4170783"/>
          </a:xfrm>
          <a:prstGeom prst="rect">
            <a:avLst/>
          </a:prstGeom>
        </p:spPr>
      </p:pic>
      <p:pic>
        <p:nvPicPr>
          <p:cNvPr id="3" name="Picture 2"/>
          <p:cNvPicPr>
            <a:picLocks noChangeAspect="1"/>
          </p:cNvPicPr>
          <p:nvPr/>
        </p:nvPicPr>
        <p:blipFill>
          <a:blip r:embed="rId3"/>
          <a:stretch>
            <a:fillRect/>
          </a:stretch>
        </p:blipFill>
        <p:spPr>
          <a:xfrm>
            <a:off x="6112140" y="2687217"/>
            <a:ext cx="6135844" cy="4174865"/>
          </a:xfrm>
          <a:prstGeom prst="rect">
            <a:avLst/>
          </a:prstGeom>
        </p:spPr>
      </p:pic>
      <p:sp>
        <p:nvSpPr>
          <p:cNvPr id="4" name="Rectangle 3"/>
          <p:cNvSpPr/>
          <p:nvPr/>
        </p:nvSpPr>
        <p:spPr>
          <a:xfrm>
            <a:off x="0" y="0"/>
            <a:ext cx="10804849" cy="1754326"/>
          </a:xfrm>
          <a:prstGeom prst="rect">
            <a:avLst/>
          </a:prstGeom>
        </p:spPr>
        <p:txBody>
          <a:bodyPr wrap="square">
            <a:spAutoFit/>
          </a:bodyPr>
          <a:lstStyle/>
          <a:p>
            <a:r>
              <a:rPr lang="en-US" dirty="0"/>
              <a:t>A Random Forest </a:t>
            </a:r>
            <a:r>
              <a:rPr lang="en-US" dirty="0" smtClean="0"/>
              <a:t>model is a </a:t>
            </a:r>
            <a:r>
              <a:rPr lang="en-US" dirty="0"/>
              <a:t>machine learning algorithm used for both classification and regression tasks. It is built on top of Decision Trees, but instead of using just one tree, it creates multiple decision trees and combines their outputs for more robust and accurate predictions</a:t>
            </a:r>
            <a:r>
              <a:rPr lang="en-US" dirty="0" smtClean="0"/>
              <a:t>.</a:t>
            </a:r>
          </a:p>
          <a:p>
            <a:r>
              <a:rPr lang="en-US" dirty="0"/>
              <a:t>The image shows the classification report for a machine learning model trained and tested on </a:t>
            </a:r>
            <a:r>
              <a:rPr lang="en-US" dirty="0" smtClean="0"/>
              <a:t>the automobile  dataset. The model suggest that the training and test accuracy are almost the same and are higher than the acceptable performance making the model a good fit.</a:t>
            </a:r>
            <a:endParaRPr lang="en-GB" dirty="0"/>
          </a:p>
        </p:txBody>
      </p:sp>
    </p:spTree>
    <p:extLst>
      <p:ext uri="{BB962C8B-B14F-4D97-AF65-F5344CB8AC3E}">
        <p14:creationId xmlns:p14="http://schemas.microsoft.com/office/powerpoint/2010/main" val="257282569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0" y="33119"/>
            <a:ext cx="7614740" cy="6824881"/>
          </a:xfrm>
          <a:prstGeom prst="rect">
            <a:avLst/>
          </a:prstGeom>
        </p:spPr>
      </p:pic>
      <p:sp>
        <p:nvSpPr>
          <p:cNvPr id="3" name="Rounded Rectangle 2"/>
          <p:cNvSpPr/>
          <p:nvPr/>
        </p:nvSpPr>
        <p:spPr>
          <a:xfrm>
            <a:off x="8079475" y="545910"/>
            <a:ext cx="3957850" cy="2899649"/>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r>
              <a:rPr lang="en-GB" sz="2000" b="1" dirty="0" smtClean="0"/>
              <a:t>This slide answers the Machine Learning business question. </a:t>
            </a:r>
          </a:p>
          <a:p>
            <a:endParaRPr lang="en-GB" sz="2000" b="1" dirty="0" smtClean="0"/>
          </a:p>
          <a:p>
            <a:r>
              <a:rPr lang="en-US" sz="2000" b="1" dirty="0"/>
              <a:t>Which top 5 features have the most impact on the crash severity?</a:t>
            </a:r>
          </a:p>
          <a:p>
            <a:pPr algn="ctr"/>
            <a:endParaRPr lang="en-GB" dirty="0"/>
          </a:p>
        </p:txBody>
      </p:sp>
    </p:spTree>
    <p:extLst>
      <p:ext uri="{BB962C8B-B14F-4D97-AF65-F5344CB8AC3E}">
        <p14:creationId xmlns:p14="http://schemas.microsoft.com/office/powerpoint/2010/main" val="192424568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15508" y="0"/>
            <a:ext cx="7351173" cy="6858000"/>
          </a:xfrm>
          <a:prstGeom prst="rect">
            <a:avLst/>
          </a:prstGeom>
        </p:spPr>
      </p:pic>
      <p:sp>
        <p:nvSpPr>
          <p:cNvPr id="3" name="Rounded Rectangle 2"/>
          <p:cNvSpPr/>
          <p:nvPr/>
        </p:nvSpPr>
        <p:spPr>
          <a:xfrm>
            <a:off x="7902054" y="614149"/>
            <a:ext cx="3875964" cy="2524836"/>
          </a:xfrm>
          <a:prstGeom prst="roundRect">
            <a:avLst/>
          </a:prstGeom>
        </p:spPr>
        <p:style>
          <a:lnRef idx="2">
            <a:schemeClr val="accent5"/>
          </a:lnRef>
          <a:fillRef idx="1">
            <a:schemeClr val="lt1"/>
          </a:fillRef>
          <a:effectRef idx="0">
            <a:schemeClr val="accent5"/>
          </a:effectRef>
          <a:fontRef idx="minor">
            <a:schemeClr val="dk1"/>
          </a:fontRef>
        </p:style>
        <p:txBody>
          <a:bodyPr rtlCol="0" anchor="ctr"/>
          <a:lstStyle/>
          <a:p>
            <a:pPr algn="ctr"/>
            <a:r>
              <a:rPr lang="en-GB" sz="2000" b="1" dirty="0" smtClean="0"/>
              <a:t>This slide displays a bar chart of the feature importance</a:t>
            </a:r>
            <a:endParaRPr lang="en-GB" sz="2000" b="1" dirty="0"/>
          </a:p>
        </p:txBody>
      </p:sp>
    </p:spTree>
    <p:extLst>
      <p:ext uri="{BB962C8B-B14F-4D97-AF65-F5344CB8AC3E}">
        <p14:creationId xmlns:p14="http://schemas.microsoft.com/office/powerpoint/2010/main" val="4617309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199" y="218003"/>
            <a:ext cx="10933944" cy="932567"/>
          </a:xfrm>
        </p:spPr>
        <p:txBody>
          <a:bodyPr>
            <a:normAutofit fontScale="90000"/>
          </a:bodyPr>
          <a:lstStyle/>
          <a:p>
            <a:r>
              <a:rPr lang="en-US" sz="2700" b="1" dirty="0">
                <a:latin typeface="+mn-lt"/>
              </a:rPr>
              <a:t>Limitations of the Random Forest Model (in this project context):</a:t>
            </a:r>
            <a:r>
              <a:rPr lang="en-US" dirty="0"/>
              <a:t/>
            </a:r>
            <a:br>
              <a:rPr lang="en-US" dirty="0"/>
            </a:br>
            <a:endParaRPr lang="en-GB" dirty="0"/>
          </a:p>
        </p:txBody>
      </p:sp>
      <p:sp>
        <p:nvSpPr>
          <p:cNvPr id="3" name="Content Placeholder 2"/>
          <p:cNvSpPr>
            <a:spLocks noGrp="1"/>
          </p:cNvSpPr>
          <p:nvPr>
            <p:ph idx="1"/>
          </p:nvPr>
        </p:nvSpPr>
        <p:spPr>
          <a:xfrm>
            <a:off x="838200" y="756954"/>
            <a:ext cx="10515600" cy="5420009"/>
          </a:xfrm>
        </p:spPr>
        <p:txBody>
          <a:bodyPr>
            <a:normAutofit fontScale="62500" lnSpcReduction="20000"/>
          </a:bodyPr>
          <a:lstStyle/>
          <a:p>
            <a:pPr marL="0" indent="0">
              <a:buNone/>
            </a:pPr>
            <a:r>
              <a:rPr lang="en-US" b="1" dirty="0" smtClean="0"/>
              <a:t>Interpretability</a:t>
            </a:r>
            <a:endParaRPr lang="en-US" b="1" dirty="0"/>
          </a:p>
          <a:p>
            <a:pPr marL="0" indent="0">
              <a:buNone/>
            </a:pPr>
            <a:r>
              <a:rPr lang="en-US" dirty="0"/>
              <a:t>While feature importance was shown (via a bar chart), Random Forests are still less interpretable than simpler models like logistic regression.</a:t>
            </a:r>
          </a:p>
          <a:p>
            <a:pPr marL="0" indent="0">
              <a:buNone/>
            </a:pPr>
            <a:r>
              <a:rPr lang="en-US" dirty="0"/>
              <a:t>For stakeholders like policymakers or insurers, it might be harder to understand how specific variables influence predictions</a:t>
            </a:r>
            <a:r>
              <a:rPr lang="en-US" dirty="0" smtClean="0"/>
              <a:t>.</a:t>
            </a:r>
            <a:endParaRPr lang="en-US" dirty="0"/>
          </a:p>
          <a:p>
            <a:pPr marL="0" indent="0">
              <a:buNone/>
            </a:pPr>
            <a:r>
              <a:rPr lang="en-US" b="1" dirty="0" smtClean="0"/>
              <a:t>Dependence </a:t>
            </a:r>
            <a:r>
              <a:rPr lang="en-US" b="1" dirty="0"/>
              <a:t>on Data Quality</a:t>
            </a:r>
          </a:p>
          <a:p>
            <a:pPr marL="0" indent="0">
              <a:buNone/>
            </a:pPr>
            <a:r>
              <a:rPr lang="en-US" dirty="0"/>
              <a:t>The model's quality is directly tied to the data cleaning pipeline. While the pipeline was described as automated, any noise, inaccuracies, or missing values not properly addressed could reduce model accuracy or generalizability.</a:t>
            </a:r>
          </a:p>
          <a:p>
            <a:pPr marL="0" indent="0">
              <a:buNone/>
            </a:pPr>
            <a:r>
              <a:rPr lang="en-US" b="1" dirty="0" smtClean="0"/>
              <a:t> </a:t>
            </a:r>
            <a:r>
              <a:rPr lang="en-US" b="1" dirty="0"/>
              <a:t>Feature Engineering Limitations</a:t>
            </a:r>
          </a:p>
          <a:p>
            <a:pPr marL="0" indent="0">
              <a:buNone/>
            </a:pPr>
            <a:r>
              <a:rPr lang="en-US" dirty="0"/>
              <a:t>The model relies heavily </a:t>
            </a:r>
            <a:r>
              <a:rPr lang="en-US" dirty="0" smtClean="0"/>
              <a:t>on how well features were encoded and selected. While one-hot encoding was applied for nominal variables, the document doesn’t specify if more </a:t>
            </a:r>
            <a:r>
              <a:rPr lang="en-US" dirty="0"/>
              <a:t>complex relationships (e.g., interactions, polynomial features) were considered, which could limit model </a:t>
            </a:r>
            <a:r>
              <a:rPr lang="en-US" dirty="0" smtClean="0"/>
              <a:t>performance</a:t>
            </a:r>
            <a:r>
              <a:rPr lang="en-US" dirty="0"/>
              <a:t>.</a:t>
            </a:r>
          </a:p>
          <a:p>
            <a:pPr marL="0" indent="0">
              <a:buNone/>
            </a:pPr>
            <a:r>
              <a:rPr lang="en-US" b="1" dirty="0" smtClean="0"/>
              <a:t> </a:t>
            </a:r>
            <a:r>
              <a:rPr lang="en-US" b="1" dirty="0"/>
              <a:t>No Causal Inference</a:t>
            </a:r>
            <a:endParaRPr lang="en-US" dirty="0"/>
          </a:p>
          <a:p>
            <a:pPr marL="0" indent="0">
              <a:buNone/>
            </a:pPr>
            <a:r>
              <a:rPr lang="en-US" dirty="0"/>
              <a:t>The model identifies patterns but not causality. For example, a feature might be strongly predictive of crash severity, but the model can’t determine whether it causes the severity.</a:t>
            </a:r>
          </a:p>
          <a:p>
            <a:pPr marL="0" indent="0">
              <a:buNone/>
            </a:pPr>
            <a:r>
              <a:rPr lang="en-US" b="1" dirty="0" smtClean="0"/>
              <a:t>Limited </a:t>
            </a:r>
            <a:r>
              <a:rPr lang="en-US" b="1" dirty="0"/>
              <a:t>Insight into Class Behavior</a:t>
            </a:r>
          </a:p>
          <a:p>
            <a:pPr marL="0" indent="0">
              <a:buNone/>
            </a:pPr>
            <a:r>
              <a:rPr lang="en-US" dirty="0" smtClean="0"/>
              <a:t>  The </a:t>
            </a:r>
            <a:r>
              <a:rPr lang="en-US" dirty="0"/>
              <a:t>presentation doesn’t provide a confusion matrix or per-class metrics for Random Forest like it did for logistic regression. This makes it hard to evaluate whether all severity levels were predicted equally well.</a:t>
            </a:r>
          </a:p>
          <a:p>
            <a:endParaRPr lang="en-GB" dirty="0"/>
          </a:p>
        </p:txBody>
      </p:sp>
    </p:spTree>
    <p:extLst>
      <p:ext uri="{BB962C8B-B14F-4D97-AF65-F5344CB8AC3E}">
        <p14:creationId xmlns:p14="http://schemas.microsoft.com/office/powerpoint/2010/main" val="382115459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75938"/>
            <a:ext cx="10515600" cy="656851"/>
          </a:xfrm>
        </p:spPr>
        <p:txBody>
          <a:bodyPr>
            <a:normAutofit/>
          </a:bodyPr>
          <a:lstStyle/>
          <a:p>
            <a:r>
              <a:rPr lang="en-US" sz="2400" b="1" dirty="0">
                <a:latin typeface="+mn-lt"/>
              </a:rPr>
              <a:t>Limitations of Feature </a:t>
            </a:r>
            <a:r>
              <a:rPr lang="en-US" sz="2400" b="1" dirty="0" smtClean="0">
                <a:latin typeface="+mn-lt"/>
              </a:rPr>
              <a:t>Importance Method </a:t>
            </a:r>
            <a:r>
              <a:rPr lang="en-US" sz="2400" b="1" dirty="0">
                <a:latin typeface="+mn-lt"/>
              </a:rPr>
              <a:t>in </a:t>
            </a:r>
            <a:r>
              <a:rPr lang="en-US" sz="2400" b="1" dirty="0" smtClean="0">
                <a:latin typeface="+mn-lt"/>
              </a:rPr>
              <a:t>the Random Forest Model</a:t>
            </a:r>
            <a:endParaRPr lang="en-GB" sz="2400" b="1" dirty="0">
              <a:latin typeface="+mn-lt"/>
            </a:endParaRPr>
          </a:p>
        </p:txBody>
      </p:sp>
      <p:sp>
        <p:nvSpPr>
          <p:cNvPr id="3" name="Content Placeholder 2"/>
          <p:cNvSpPr>
            <a:spLocks noGrp="1"/>
          </p:cNvSpPr>
          <p:nvPr>
            <p:ph idx="1"/>
          </p:nvPr>
        </p:nvSpPr>
        <p:spPr>
          <a:xfrm>
            <a:off x="838200" y="763793"/>
            <a:ext cx="10683240" cy="5413170"/>
          </a:xfrm>
        </p:spPr>
        <p:txBody>
          <a:bodyPr>
            <a:normAutofit/>
          </a:bodyPr>
          <a:lstStyle/>
          <a:p>
            <a:pPr marL="0" indent="0">
              <a:buNone/>
            </a:pPr>
            <a:r>
              <a:rPr lang="en-US" sz="1800" b="1" dirty="0" smtClean="0"/>
              <a:t>1.Bias </a:t>
            </a:r>
            <a:r>
              <a:rPr lang="en-US" sz="1800" b="1" dirty="0"/>
              <a:t>Toward High-Cardinality Features</a:t>
            </a:r>
          </a:p>
          <a:p>
            <a:r>
              <a:rPr lang="en-US" sz="1800" dirty="0"/>
              <a:t>Random Forests tend to favor features with more unique values (e.g., continuous variables) over categorical variables with fewer categories.</a:t>
            </a:r>
          </a:p>
          <a:p>
            <a:r>
              <a:rPr lang="en-US" sz="1800" dirty="0"/>
              <a:t>This can make some features </a:t>
            </a:r>
            <a:r>
              <a:rPr lang="en-US" sz="1800" i="1" dirty="0"/>
              <a:t>look</a:t>
            </a:r>
            <a:r>
              <a:rPr lang="en-US" sz="1800" dirty="0"/>
              <a:t> more important just because they have more potential splits, not because they’re more predictive.</a:t>
            </a:r>
          </a:p>
          <a:p>
            <a:pPr marL="0" indent="0">
              <a:buNone/>
            </a:pPr>
            <a:r>
              <a:rPr lang="en-US" sz="1800" b="1" dirty="0" smtClean="0"/>
              <a:t>2.Correlation </a:t>
            </a:r>
            <a:r>
              <a:rPr lang="en-US" sz="1800" b="1" dirty="0"/>
              <a:t>Between Features</a:t>
            </a:r>
          </a:p>
          <a:p>
            <a:r>
              <a:rPr lang="en-US" sz="1800" dirty="0"/>
              <a:t>If two features are highly correlated, the model may split the importance between them (or attribute more to one by chance), making both appear less important than they actually are.</a:t>
            </a:r>
          </a:p>
          <a:p>
            <a:r>
              <a:rPr lang="en-US" sz="1800" dirty="0"/>
              <a:t>This can lead to misleading interpretations of which features truly drive the model.</a:t>
            </a:r>
          </a:p>
          <a:p>
            <a:pPr marL="0" indent="0">
              <a:buNone/>
            </a:pPr>
            <a:r>
              <a:rPr lang="en-US" sz="1800" b="1" dirty="0"/>
              <a:t>3. Lack of Directionality</a:t>
            </a:r>
          </a:p>
          <a:p>
            <a:r>
              <a:rPr lang="en-US" sz="1800" dirty="0"/>
              <a:t>Feature importance tells you how much a variable influences the prediction, but not in which direction.</a:t>
            </a:r>
          </a:p>
          <a:p>
            <a:r>
              <a:rPr lang="en-US" sz="1800" dirty="0"/>
              <a:t>For example, it might say “driver age is important,” but doesn’t show whether older or younger drivers are associated with higher crash severity.</a:t>
            </a:r>
          </a:p>
          <a:p>
            <a:r>
              <a:rPr lang="en-US" sz="1800" dirty="0"/>
              <a:t>"Feature importance in Random Forest tells us which features the model used most, but it can sometimes overvalue variables with more data points, hide relationships between similar features, and doesn’t explain whether the impact is positive or negative."</a:t>
            </a:r>
            <a:endParaRPr lang="en-GB" sz="1800" dirty="0"/>
          </a:p>
        </p:txBody>
      </p:sp>
    </p:spTree>
    <p:extLst>
      <p:ext uri="{BB962C8B-B14F-4D97-AF65-F5344CB8AC3E}">
        <p14:creationId xmlns:p14="http://schemas.microsoft.com/office/powerpoint/2010/main" val="45349191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2667</Words>
  <Application>Microsoft Office PowerPoint</Application>
  <PresentationFormat>Widescreen</PresentationFormat>
  <Paragraphs>179</Paragraphs>
  <Slides>41</Slides>
  <Notes>0</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41</vt:i4>
      </vt:variant>
    </vt:vector>
  </HeadingPairs>
  <TitlesOfParts>
    <vt:vector size="47" baseType="lpstr">
      <vt:lpstr>Arial</vt:lpstr>
      <vt:lpstr>Calibri</vt:lpstr>
      <vt:lpstr>Calibri Light</vt:lpstr>
      <vt:lpstr>Times New Roman</vt:lpstr>
      <vt:lpstr>Office Theme</vt:lpstr>
      <vt:lpstr>1_Office Theme</vt:lpstr>
      <vt:lpstr>Data Analytics Portfolio</vt:lpstr>
      <vt:lpstr>PowerPoint Presentation</vt:lpstr>
      <vt:lpstr>PowerPoint Presentation</vt:lpstr>
      <vt:lpstr>PowerPoint Presentation</vt:lpstr>
      <vt:lpstr>PowerPoint Presentation</vt:lpstr>
      <vt:lpstr>Data Description (Automobile_crash_data)</vt:lpstr>
      <vt:lpstr>PowerPoint Presentation</vt:lpstr>
      <vt:lpstr>Data Cleaning pipeline Automated</vt:lpstr>
      <vt:lpstr>Brief Description of Cleaned Automobile Data</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Correlation Analysis</vt:lpstr>
      <vt:lpstr>PowerPoint Presentation</vt:lpstr>
      <vt:lpstr>       The Automobile data would have be taken through the data cleaning pipeline as seen on slide 7.  The correlation is calculated only for numerical features. From this dataset there are no features which are correlated. The 1 in the heat map is because we were comparing vehicle year with vehicle year.   </vt:lpstr>
      <vt:lpstr>PowerPoint Presentation</vt:lpstr>
      <vt:lpstr>PowerPoint Presentation</vt:lpstr>
      <vt:lpstr>PowerPoint Presentation</vt:lpstr>
      <vt:lpstr>PowerPoint Presentation</vt:lpstr>
      <vt:lpstr>Hypothesis Test: Older vehicles tend to have larger engine displacement compared to newer vehicles</vt:lpstr>
      <vt:lpstr>PowerPoint Presentation</vt:lpstr>
      <vt:lpstr>PowerPoint Presentation</vt:lpstr>
      <vt:lpstr> The p-value helps determine whether to reject or accept the null hypothesis:      - If p &gt; 0.05, we fail to reject the null hypothesis, meaning there is no significant difference.      - If p ≤ 0.05, we reject the null hypothesis, indicating a significant difference. It helps assess whether vehicle age (old vs. new) has an impact on engine displacement, which could be important for design, performance, or regulatory considerations. In this case, since the p-value is greater than 0.05, the conclusion is that there is no significant difference between the engine displacement of old and new vehicles. This suggests that vehicle age does not significantly affect engine displacement. </vt:lpstr>
      <vt:lpstr>Machine Learning</vt:lpstr>
      <vt:lpstr>PowerPoint Presentation</vt:lpstr>
      <vt:lpstr>Data Modelling Pipeline</vt:lpstr>
      <vt:lpstr>Load Data,  clean and Model the data</vt:lpstr>
      <vt:lpstr>PowerPoint Presentation</vt:lpstr>
      <vt:lpstr>This image shows the one-hot encoding process for nominal categorical data. The key steps are fitting the encoder, transforming the data, converting the array to a DataFrame. This step is critical for handling non-ordinal categories         </vt:lpstr>
      <vt:lpstr>PowerPoint Presentation</vt:lpstr>
      <vt:lpstr>PowerPoint Presentation</vt:lpstr>
      <vt:lpstr>PowerPoint Presentation</vt:lpstr>
      <vt:lpstr>PowerPoint Presentation</vt:lpstr>
      <vt:lpstr>PowerPoint Presentation</vt:lpstr>
      <vt:lpstr>Limitations of the Random Forest Model (in this project context): </vt:lpstr>
      <vt:lpstr>Limitations of Feature Importance Method in the Random Forest Model</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 Analytics Portfolio</dc:title>
  <dc:creator>Gerald Fongha</dc:creator>
  <cp:lastModifiedBy>Gerald Fongha</cp:lastModifiedBy>
  <cp:revision>74</cp:revision>
  <dcterms:created xsi:type="dcterms:W3CDTF">2025-03-09T20:34:14Z</dcterms:created>
  <dcterms:modified xsi:type="dcterms:W3CDTF">2025-04-15T08:50:24Z</dcterms:modified>
</cp:coreProperties>
</file>